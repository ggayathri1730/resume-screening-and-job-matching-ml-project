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80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module per team member works well - it also answers the panel question 'who did what'.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status. Panels reward accurate self-assessment and penalise claims that fall apart under one question.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marL="0" indent="0">
              <a:buNone/>
            </a:pPr>
            <a:r>
              <a:rPr lang="en-US" sz="1150" b="1" kern="0" spc="200" dirty="0">
                <a:solidFill>
                  <a:srgbClr val="C8A02C"/>
                </a:solidFill>
                <a:latin typeface="Calibri" pitchFamily="34" charset="0"/>
                <a:ea typeface="Calibri" pitchFamily="34" charset="-122"/>
                <a:cs typeface="Calibri" pitchFamily="34" charset="-120"/>
              </a:rPr>
              <a:t>KL UNIVERSITY  •  BACHUPALLY CAMPUS, HYDERABAD</a:t>
            </a:r>
            <a:endParaRPr lang="en-US" sz="1150"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marL="0" indent="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Resume Screening and Job Matching</a:t>
            </a:r>
            <a:endParaRPr lang="en-US" sz="4000" dirty="0"/>
          </a:p>
        </p:txBody>
      </p:sp>
      <p:sp>
        <p:nvSpPr>
          <p:cNvPr id="5" name="Text 3"/>
          <p:cNvSpPr txBox="1"/>
          <p:nvPr/>
        </p:nvSpPr>
        <p:spPr>
          <a:xfrm>
            <a:off x="640080" y="2542032"/>
            <a:ext cx="10881360" cy="274320"/>
          </a:xfrm>
          <a:prstGeom prst="rect">
            <a:avLst/>
          </a:prstGeom>
          <a:noFill/>
          <a:ln/>
        </p:spPr>
        <p:txBody>
          <a:bodyPr wrap="square" lIns="0" tIns="0" rIns="0" bIns="0" rtlCol="0" anchor="ctr"/>
          <a:lstStyle/>
          <a:p>
            <a:pPr marL="0" indent="0">
              <a:buNone/>
            </a:pPr>
            <a:r>
              <a:rPr lang="en-US" sz="1250" i="1" dirty="0">
                <a:solidFill>
                  <a:srgbClr val="C8A02C"/>
                </a:solidFill>
                <a:latin typeface="Calibri" pitchFamily="34" charset="0"/>
                <a:ea typeface="Calibri" pitchFamily="34" charset="-122"/>
                <a:cs typeface="Calibri" pitchFamily="34" charset="-120"/>
              </a:rPr>
              <a:t>Ranking candidates against a job description using NLP and text similarity</a:t>
            </a:r>
            <a:endParaRPr lang="en-US" sz="1250" dirty="0"/>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sp>
      <p:sp>
        <p:nvSpPr>
          <p:cNvPr id="7" name="Text 5"/>
          <p:cNvSpPr txBox="1"/>
          <p:nvPr/>
        </p:nvSpPr>
        <p:spPr>
          <a:xfrm>
            <a:off x="868680" y="3364992"/>
            <a:ext cx="5120640" cy="256032"/>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marL="0" indent="0">
              <a:lnSpc>
                <a:spcPts val="2400"/>
              </a:lnSpc>
              <a:buNone/>
            </a:pPr>
            <a:r>
              <a:rPr lang="en-US" sz="1450" dirty="0">
                <a:solidFill>
                  <a:srgbClr val="FFFFFF"/>
                </a:solidFill>
                <a:latin typeface="Calibri" pitchFamily="34" charset="0"/>
                <a:ea typeface="Calibri" pitchFamily="34" charset="-122"/>
                <a:cs typeface="Calibri" pitchFamily="34" charset="-120"/>
              </a:rPr>
              <a:t>2520030465   Guttikonda Gayathri</a:t>
            </a:r>
            <a:endParaRPr lang="en-US" sz="1450" dirty="0"/>
          </a:p>
          <a:p>
            <a:pPr marL="0" indent="0">
              <a:lnSpc>
                <a:spcPts val="2400"/>
              </a:lnSpc>
              <a:buNone/>
            </a:pPr>
            <a:r>
              <a:rPr lang="en-US" sz="1450" dirty="0">
                <a:solidFill>
                  <a:srgbClr val="FFFFFF"/>
                </a:solidFill>
                <a:latin typeface="Calibri" pitchFamily="34" charset="0"/>
                <a:ea typeface="Calibri" pitchFamily="34" charset="-122"/>
                <a:cs typeface="Calibri" pitchFamily="34" charset="-120"/>
              </a:rPr>
              <a:t>2520030260   Sai Sowseelya V</a:t>
            </a:r>
            <a:endParaRPr lang="en-US" sz="1450" dirty="0"/>
          </a:p>
          <a:p>
            <a:pPr marL="0" indent="0">
              <a:lnSpc>
                <a:spcPts val="2400"/>
              </a:lnSpc>
              <a:buNone/>
            </a:pPr>
            <a:endParaRPr lang="en-US" sz="1450" dirty="0"/>
          </a:p>
          <a:p>
            <a:pPr marL="0" indent="0">
              <a:lnSpc>
                <a:spcPts val="2400"/>
              </a:lnSpc>
              <a:buNone/>
            </a:pPr>
            <a:endParaRPr lang="en-US" sz="1450" dirty="0"/>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sp>
      <p:sp>
        <p:nvSpPr>
          <p:cNvPr id="10" name="Text 8"/>
          <p:cNvSpPr txBox="1"/>
          <p:nvPr/>
        </p:nvSpPr>
        <p:spPr>
          <a:xfrm>
            <a:off x="6720840" y="3364992"/>
            <a:ext cx="4572000" cy="256032"/>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UNDER THE GUIDANCE OF</a:t>
            </a:r>
            <a:endParaRPr lang="en-US" sz="1000"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Mr. G. Raghavendra</a:t>
            </a:r>
            <a:endParaRPr lang="en-US" sz="1600" dirty="0"/>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marL="0" indent="0">
              <a:buNone/>
            </a:pPr>
            <a:r>
              <a:rPr lang="en-US" sz="1300" dirty="0">
                <a:solidFill>
                  <a:srgbClr val="AEBBD6"/>
                </a:solidFill>
                <a:latin typeface="Calibri" pitchFamily="34" charset="0"/>
                <a:ea typeface="Calibri" pitchFamily="34" charset="-122"/>
                <a:cs typeface="Calibri" pitchFamily="34" charset="-120"/>
              </a:rPr>
              <a:t>Designation, Department of CSE</a:t>
            </a:r>
            <a:endParaRPr lang="en-US" sz="1300" dirty="0"/>
          </a:p>
          <a:p>
            <a:pPr marL="0" indent="0">
              <a:buNone/>
            </a:pPr>
            <a:r>
              <a:rPr lang="en-US" sz="1300" dirty="0">
                <a:solidFill>
                  <a:srgbClr val="AEBBD6"/>
                </a:solidFill>
                <a:latin typeface="Calibri" pitchFamily="34" charset="0"/>
                <a:ea typeface="Calibri" pitchFamily="34" charset="-122"/>
                <a:cs typeface="Calibri" pitchFamily="34" charset="-120"/>
              </a:rPr>
              <a:t>KLH Bachupally Campus</a:t>
            </a:r>
            <a:endParaRPr lang="en-US" sz="1300" dirty="0"/>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marL="0" indent="0">
              <a:buNone/>
            </a:pPr>
            <a:r>
              <a:rPr lang="en-US" sz="1150" dirty="0">
                <a:solidFill>
                  <a:srgbClr val="8C9BBC"/>
                </a:solidFill>
                <a:latin typeface="Calibri" pitchFamily="34" charset="0"/>
                <a:ea typeface="Calibri" pitchFamily="34" charset="-122"/>
                <a:cs typeface="Calibri" pitchFamily="34" charset="-120"/>
              </a:rPr>
              <a:t>B.Tech II Year  |  Minor Project - Review 1  |  Academic Year 2026-27  </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Contents</a:t>
            </a:r>
            <a:endParaRPr lang="en-US" sz="3100"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sp>
      <p:sp>
        <p:nvSpPr>
          <p:cNvPr id="5" name="Shape 3"/>
          <p:cNvSpPr/>
          <p:nvPr/>
        </p:nvSpPr>
        <p:spPr>
          <a:xfrm>
            <a:off x="731520" y="1527048"/>
            <a:ext cx="384048" cy="384048"/>
          </a:xfrm>
          <a:prstGeom prst="ellipse">
            <a:avLst/>
          </a:prstGeom>
          <a:solidFill>
            <a:srgbClr val="C8A02C"/>
          </a:solidFill>
          <a:ln/>
        </p:spPr>
      </p:sp>
      <p:sp>
        <p:nvSpPr>
          <p:cNvPr id="6" name="Text 4"/>
          <p:cNvSpPr txBox="1"/>
          <p:nvPr/>
        </p:nvSpPr>
        <p:spPr>
          <a:xfrm>
            <a:off x="731520" y="152704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Introduction &amp; Domain Background</a:t>
            </a:r>
            <a:endParaRPr lang="en-US" sz="1400"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sp>
      <p:sp>
        <p:nvSpPr>
          <p:cNvPr id="9" name="Shape 7"/>
          <p:cNvSpPr/>
          <p:nvPr/>
        </p:nvSpPr>
        <p:spPr>
          <a:xfrm>
            <a:off x="731520" y="2276856"/>
            <a:ext cx="384048" cy="384048"/>
          </a:xfrm>
          <a:prstGeom prst="ellipse">
            <a:avLst/>
          </a:prstGeom>
          <a:solidFill>
            <a:srgbClr val="C8A02C"/>
          </a:solidFill>
          <a:ln/>
        </p:spPr>
      </p:sp>
      <p:sp>
        <p:nvSpPr>
          <p:cNvPr id="10" name="Text 8"/>
          <p:cNvSpPr txBox="1"/>
          <p:nvPr/>
        </p:nvSpPr>
        <p:spPr>
          <a:xfrm>
            <a:off x="731520" y="2276856"/>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Problem Statement &amp; Motivation</a:t>
            </a:r>
            <a:endParaRPr lang="en-US" sz="1400"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sp>
      <p:sp>
        <p:nvSpPr>
          <p:cNvPr id="13" name="Shape 11"/>
          <p:cNvSpPr/>
          <p:nvPr/>
        </p:nvSpPr>
        <p:spPr>
          <a:xfrm>
            <a:off x="731520" y="3026664"/>
            <a:ext cx="384048" cy="384048"/>
          </a:xfrm>
          <a:prstGeom prst="ellipse">
            <a:avLst/>
          </a:prstGeom>
          <a:solidFill>
            <a:srgbClr val="C8A02C"/>
          </a:solidFill>
          <a:ln/>
        </p:spPr>
      </p:sp>
      <p:sp>
        <p:nvSpPr>
          <p:cNvPr id="14" name="Text 12"/>
          <p:cNvSpPr txBox="1"/>
          <p:nvPr/>
        </p:nvSpPr>
        <p:spPr>
          <a:xfrm>
            <a:off x="731520" y="302666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Literature Survey</a:t>
            </a:r>
            <a:endParaRPr lang="en-US" sz="1400"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sp>
      <p:sp>
        <p:nvSpPr>
          <p:cNvPr id="17" name="Shape 15"/>
          <p:cNvSpPr/>
          <p:nvPr/>
        </p:nvSpPr>
        <p:spPr>
          <a:xfrm>
            <a:off x="731520" y="3776472"/>
            <a:ext cx="384048" cy="384048"/>
          </a:xfrm>
          <a:prstGeom prst="ellipse">
            <a:avLst/>
          </a:prstGeom>
          <a:solidFill>
            <a:srgbClr val="C8A02C"/>
          </a:solidFill>
          <a:ln/>
        </p:spPr>
      </p:sp>
      <p:sp>
        <p:nvSpPr>
          <p:cNvPr id="18" name="Text 16"/>
          <p:cNvSpPr txBox="1"/>
          <p:nvPr/>
        </p:nvSpPr>
        <p:spPr>
          <a:xfrm>
            <a:off x="731520" y="377647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Research Gap Identified</a:t>
            </a:r>
            <a:endParaRPr lang="en-US" sz="1400"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sp>
      <p:sp>
        <p:nvSpPr>
          <p:cNvPr id="21" name="Shape 19"/>
          <p:cNvSpPr/>
          <p:nvPr/>
        </p:nvSpPr>
        <p:spPr>
          <a:xfrm>
            <a:off x="731520" y="4526280"/>
            <a:ext cx="384048" cy="384048"/>
          </a:xfrm>
          <a:prstGeom prst="ellipse">
            <a:avLst/>
          </a:prstGeom>
          <a:solidFill>
            <a:srgbClr val="C8A02C"/>
          </a:solidFill>
          <a:ln/>
        </p:spPr>
      </p:sp>
      <p:sp>
        <p:nvSpPr>
          <p:cNvPr id="22" name="Text 20"/>
          <p:cNvSpPr txBox="1"/>
          <p:nvPr/>
        </p:nvSpPr>
        <p:spPr>
          <a:xfrm>
            <a:off x="731520" y="452628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Objectives of the Project</a:t>
            </a:r>
            <a:endParaRPr lang="en-US" sz="1400"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sp>
      <p:sp>
        <p:nvSpPr>
          <p:cNvPr id="25" name="Shape 23"/>
          <p:cNvSpPr/>
          <p:nvPr/>
        </p:nvSpPr>
        <p:spPr>
          <a:xfrm>
            <a:off x="731520" y="5276088"/>
            <a:ext cx="384048" cy="384048"/>
          </a:xfrm>
          <a:prstGeom prst="ellipse">
            <a:avLst/>
          </a:prstGeom>
          <a:solidFill>
            <a:srgbClr val="C8A02C"/>
          </a:solidFill>
          <a:ln/>
        </p:spPr>
      </p:sp>
      <p:sp>
        <p:nvSpPr>
          <p:cNvPr id="26" name="Text 24"/>
          <p:cNvSpPr txBox="1"/>
          <p:nvPr/>
        </p:nvSpPr>
        <p:spPr>
          <a:xfrm>
            <a:off x="731520" y="527608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Proposed System Architecture</a:t>
            </a:r>
            <a:endParaRPr lang="en-US" sz="1400"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sp>
      <p:sp>
        <p:nvSpPr>
          <p:cNvPr id="29" name="Shape 27"/>
          <p:cNvSpPr/>
          <p:nvPr/>
        </p:nvSpPr>
        <p:spPr>
          <a:xfrm>
            <a:off x="6400800" y="1527048"/>
            <a:ext cx="384048" cy="384048"/>
          </a:xfrm>
          <a:prstGeom prst="ellipse">
            <a:avLst/>
          </a:prstGeom>
          <a:solidFill>
            <a:srgbClr val="C8A02C"/>
          </a:solidFill>
          <a:ln/>
        </p:spPr>
      </p:sp>
      <p:sp>
        <p:nvSpPr>
          <p:cNvPr id="30" name="Text 28"/>
          <p:cNvSpPr txBox="1"/>
          <p:nvPr/>
        </p:nvSpPr>
        <p:spPr>
          <a:xfrm>
            <a:off x="6400800" y="152704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Methodology &amp; Modules</a:t>
            </a:r>
            <a:endParaRPr lang="en-US" sz="1400"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sp>
      <p:sp>
        <p:nvSpPr>
          <p:cNvPr id="33" name="Shape 31"/>
          <p:cNvSpPr/>
          <p:nvPr/>
        </p:nvSpPr>
        <p:spPr>
          <a:xfrm>
            <a:off x="6400800" y="2276856"/>
            <a:ext cx="384048" cy="384048"/>
          </a:xfrm>
          <a:prstGeom prst="ellipse">
            <a:avLst/>
          </a:prstGeom>
          <a:solidFill>
            <a:srgbClr val="C8A02C"/>
          </a:solidFill>
          <a:ln/>
        </p:spPr>
      </p:sp>
      <p:sp>
        <p:nvSpPr>
          <p:cNvPr id="34" name="Text 32"/>
          <p:cNvSpPr txBox="1"/>
          <p:nvPr/>
        </p:nvSpPr>
        <p:spPr>
          <a:xfrm>
            <a:off x="6400800" y="2276856"/>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Tools and Technologies</a:t>
            </a:r>
            <a:endParaRPr lang="en-US" sz="1400"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sp>
      <p:sp>
        <p:nvSpPr>
          <p:cNvPr id="37" name="Shape 35"/>
          <p:cNvSpPr/>
          <p:nvPr/>
        </p:nvSpPr>
        <p:spPr>
          <a:xfrm>
            <a:off x="6400800" y="3026664"/>
            <a:ext cx="384048" cy="384048"/>
          </a:xfrm>
          <a:prstGeom prst="ellipse">
            <a:avLst/>
          </a:prstGeom>
          <a:solidFill>
            <a:srgbClr val="C8A02C"/>
          </a:solidFill>
          <a:ln/>
        </p:spPr>
      </p:sp>
      <p:sp>
        <p:nvSpPr>
          <p:cNvPr id="38" name="Text 36"/>
          <p:cNvSpPr txBox="1"/>
          <p:nvPr/>
        </p:nvSpPr>
        <p:spPr>
          <a:xfrm>
            <a:off x="6400800" y="302666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Work Completed / Demo</a:t>
            </a:r>
            <a:endParaRPr lang="en-US" sz="1400"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sp>
      <p:sp>
        <p:nvSpPr>
          <p:cNvPr id="41" name="Shape 39"/>
          <p:cNvSpPr/>
          <p:nvPr/>
        </p:nvSpPr>
        <p:spPr>
          <a:xfrm>
            <a:off x="6400800" y="3776472"/>
            <a:ext cx="384048" cy="384048"/>
          </a:xfrm>
          <a:prstGeom prst="ellipse">
            <a:avLst/>
          </a:prstGeom>
          <a:solidFill>
            <a:srgbClr val="C8A02C"/>
          </a:solidFill>
          <a:ln/>
        </p:spPr>
      </p:sp>
      <p:sp>
        <p:nvSpPr>
          <p:cNvPr id="42" name="Text 40"/>
          <p:cNvSpPr txBox="1"/>
          <p:nvPr/>
        </p:nvSpPr>
        <p:spPr>
          <a:xfrm>
            <a:off x="6400800" y="377647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10</a:t>
            </a:r>
            <a:endParaRPr lang="en-US" sz="1300"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sp>
      <p:sp>
        <p:nvSpPr>
          <p:cNvPr id="45" name="Shape 43"/>
          <p:cNvSpPr/>
          <p:nvPr/>
        </p:nvSpPr>
        <p:spPr>
          <a:xfrm>
            <a:off x="6400800" y="4526280"/>
            <a:ext cx="384048" cy="384048"/>
          </a:xfrm>
          <a:prstGeom prst="ellipse">
            <a:avLst/>
          </a:prstGeom>
          <a:solidFill>
            <a:srgbClr val="C8A02C"/>
          </a:solidFill>
          <a:ln/>
        </p:spPr>
      </p:sp>
      <p:sp>
        <p:nvSpPr>
          <p:cNvPr id="46" name="Text 44"/>
          <p:cNvSpPr txBox="1"/>
          <p:nvPr/>
        </p:nvSpPr>
        <p:spPr>
          <a:xfrm>
            <a:off x="6400800" y="452628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6884592" y="3657600"/>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Expected Outcome &amp; Conclusion</a:t>
            </a:r>
            <a:endParaRPr lang="en-US" sz="1400" dirty="0"/>
          </a:p>
        </p:txBody>
      </p:sp>
      <p:sp>
        <p:nvSpPr>
          <p:cNvPr id="51" name="Text 49"/>
          <p:cNvSpPr txBox="1"/>
          <p:nvPr/>
        </p:nvSpPr>
        <p:spPr>
          <a:xfrm>
            <a:off x="6967728" y="4416552"/>
            <a:ext cx="4526280" cy="603504"/>
          </a:xfrm>
          <a:prstGeom prst="rect">
            <a:avLst/>
          </a:prstGeom>
          <a:noFill/>
          <a:ln/>
        </p:spPr>
        <p:txBody>
          <a:bodyPr wrap="square" lIns="0" tIns="0" rIns="0" bIns="0" rtlCol="0" anchor="ctr"/>
          <a:lstStyle/>
          <a:p>
            <a:pPr marL="0" indent="0">
              <a:buNone/>
            </a:pPr>
            <a:r>
              <a:rPr lang="en-US" sz="1400" dirty="0">
                <a:solidFill>
                  <a:srgbClr val="1F2430"/>
                </a:solidFill>
                <a:latin typeface="Calibri" pitchFamily="34" charset="0"/>
                <a:ea typeface="Calibri" pitchFamily="34" charset="-122"/>
                <a:cs typeface="Calibri" pitchFamily="34" charset="-120"/>
              </a:rPr>
              <a:t>References</a:t>
            </a:r>
            <a:endParaRPr lang="en-US" sz="1400"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Introduction &amp; Domain Background</a:t>
            </a:r>
            <a:endParaRPr lang="en-US" sz="3100"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sp>
      <p:sp>
        <p:nvSpPr>
          <p:cNvPr id="5" name="Text 3"/>
          <p:cNvSpPr txBox="1"/>
          <p:nvPr/>
        </p:nvSpPr>
        <p:spPr>
          <a:xfrm>
            <a:off x="868680" y="1691640"/>
            <a:ext cx="6035040" cy="3931920"/>
          </a:xfrm>
          <a:prstGeom prst="rect">
            <a:avLst/>
          </a:prstGeom>
          <a:noFill/>
          <a:ln/>
        </p:spPr>
        <p:txBody>
          <a:bodyPr wrap="square" lIns="0" tIns="0" rIns="0" bIns="0" rtlCol="0" anchor="ctr"/>
          <a:lstStyle/>
          <a:p>
            <a:pPr marL="0" indent="0">
              <a:lnSpc>
                <a:spcPts val="2200"/>
              </a:lnSpc>
              <a:buNone/>
            </a:pPr>
            <a:r>
              <a:rPr lang="en-US" sz="1500" b="1" dirty="0">
                <a:solidFill>
                  <a:srgbClr val="1B2A55"/>
                </a:solidFill>
                <a:latin typeface="Calibri" pitchFamily="34" charset="0"/>
                <a:ea typeface="Calibri" pitchFamily="34" charset="-122"/>
                <a:cs typeface="Calibri" pitchFamily="34" charset="-120"/>
              </a:rPr>
              <a:t>What is the domain?</a:t>
            </a:r>
            <a:endParaRPr lang="en-US" sz="1500" dirty="0"/>
          </a:p>
          <a:p>
            <a:pPr marL="0" indent="0">
              <a:lnSpc>
                <a:spcPts val="2200"/>
              </a:lnSpc>
              <a:buNone/>
            </a:pPr>
            <a:r>
              <a:rPr lang="en-US" sz="1350" dirty="0">
                <a:solidFill>
                  <a:srgbClr val="1F2430"/>
                </a:solidFill>
                <a:latin typeface="Calibri" pitchFamily="34" charset="0"/>
                <a:ea typeface="Calibri" pitchFamily="34" charset="-122"/>
                <a:cs typeface="Calibri" pitchFamily="34" charset="-120"/>
              </a:rPr>
              <a:t>Natural Language Processing applied to recruitment technology. Resumes are unstructured free text, so shortlisting is really a text-understanding and information-retrieval problem.</a:t>
            </a:r>
            <a:endParaRPr lang="en-US" sz="1500" dirty="0"/>
          </a:p>
          <a:p>
            <a:pPr marL="0" indent="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lnSpc>
                <a:spcPts val="2200"/>
              </a:lnSpc>
              <a:buNone/>
            </a:pPr>
            <a:r>
              <a:rPr lang="en-US" sz="1500" b="1" dirty="0">
                <a:solidFill>
                  <a:srgbClr val="1B2A55"/>
                </a:solidFill>
                <a:latin typeface="Calibri" pitchFamily="34" charset="0"/>
                <a:ea typeface="Calibri" pitchFamily="34" charset="-122"/>
                <a:cs typeface="Calibri" pitchFamily="34" charset="-120"/>
              </a:rPr>
              <a:t>Why is it relevant today?</a:t>
            </a:r>
            <a:endParaRPr lang="en-US" sz="1500" dirty="0"/>
          </a:p>
          <a:p>
            <a:pPr marL="0" indent="0">
              <a:lnSpc>
                <a:spcPts val="2200"/>
              </a:lnSpc>
              <a:buNone/>
            </a:pPr>
            <a:r>
              <a:rPr lang="en-US" sz="1350" dirty="0">
                <a:solidFill>
                  <a:srgbClr val="1F2430"/>
                </a:solidFill>
                <a:latin typeface="Calibri" pitchFamily="34" charset="0"/>
                <a:ea typeface="Calibri" pitchFamily="34" charset="-122"/>
                <a:cs typeface="Calibri" pitchFamily="34" charset="-120"/>
              </a:rPr>
              <a:t>Automated screening is already practical: reported systems reach about 85% text parsing accuracy and 92% ranking accuracy against manual shortlisting [1].</a:t>
            </a:r>
            <a:endParaRPr lang="en-US" sz="1500" dirty="0"/>
          </a:p>
          <a:p>
            <a:pPr marL="0" indent="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marL="0" indent="0">
              <a:lnSpc>
                <a:spcPts val="2200"/>
              </a:lnSpc>
              <a:buNone/>
            </a:pPr>
            <a:r>
              <a:rPr lang="en-US" sz="1500" b="1" dirty="0">
                <a:solidFill>
                  <a:srgbClr val="1B2A55"/>
                </a:solidFill>
                <a:latin typeface="Calibri" pitchFamily="34" charset="0"/>
                <a:ea typeface="Calibri" pitchFamily="34" charset="-122"/>
                <a:cs typeface="Calibri" pitchFamily="34" charset="-120"/>
              </a:rPr>
              <a:t>Where does your project sit?</a:t>
            </a:r>
            <a:endParaRPr lang="en-US" sz="1500" dirty="0"/>
          </a:p>
          <a:p>
            <a:pPr marL="0" indent="0">
              <a:lnSpc>
                <a:spcPts val="2200"/>
              </a:lnSpc>
              <a:buNone/>
            </a:pPr>
            <a:r>
              <a:rPr lang="en-US" sz="1350" dirty="0">
                <a:solidFill>
                  <a:srgbClr val="1F2430"/>
                </a:solidFill>
                <a:latin typeface="Calibri" pitchFamily="34" charset="0"/>
                <a:ea typeface="Calibri" pitchFamily="34" charset="-122"/>
                <a:cs typeface="Calibri" pitchFamily="34" charset="-120"/>
              </a:rPr>
              <a:t>We build the matching layer - extracting skills with spaCy NER and scoring each resume against a job description using TF-IDF and Cosine Similarity.</a:t>
            </a:r>
            <a:endParaRPr lang="en-US" sz="1500" dirty="0"/>
          </a:p>
        </p:txBody>
      </p:sp>
      <p:sp>
        <p:nvSpPr>
          <p:cNvPr id="8" name="Shape 6"/>
          <p:cNvSpPr/>
          <p:nvPr/>
        </p:nvSpPr>
        <p:spPr>
          <a:xfrm>
            <a:off x="7406640" y="4434840"/>
            <a:ext cx="4206240" cy="1463040"/>
          </a:xfrm>
          <a:prstGeom prst="roundRect">
            <a:avLst>
              <a:gd name="adj" fmla="val 5000"/>
            </a:avLst>
          </a:prstGeom>
          <a:solidFill>
            <a:srgbClr val="FDF6E6"/>
          </a:solidFill>
          <a:ln w="12700">
            <a:solidFill>
              <a:srgbClr val="DDE3EC"/>
            </a:solidFill>
            <a:prstDash val="solid"/>
          </a:ln>
        </p:spPr>
      </p:sp>
      <p:sp>
        <p:nvSpPr>
          <p:cNvPr id="9" name="Text 7"/>
          <p:cNvSpPr txBox="1"/>
          <p:nvPr/>
        </p:nvSpPr>
        <p:spPr>
          <a:xfrm>
            <a:off x="7635240" y="4572000"/>
            <a:ext cx="3749040" cy="256032"/>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Scope of Review 1</a:t>
            </a:r>
            <a:endParaRPr lang="en-US" sz="1050" dirty="0"/>
          </a:p>
        </p:txBody>
      </p:sp>
      <p:sp>
        <p:nvSpPr>
          <p:cNvPr id="10" name="Text 8"/>
          <p:cNvSpPr txBox="1"/>
          <p:nvPr/>
        </p:nvSpPr>
        <p:spPr>
          <a:xfrm>
            <a:off x="7635240" y="4864608"/>
            <a:ext cx="3749040" cy="86868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Dataset finalised, literature surveyed and the matching pipeline designed. Implementation is in progress.</a:t>
            </a:r>
            <a:endParaRPr lang="en-US" sz="1250" dirty="0"/>
          </a:p>
        </p:txBody>
      </p:sp>
      <p:sp>
        <p:nvSpPr>
          <p:cNvPr id="11" name="Text 9"/>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pic>
        <p:nvPicPr>
          <p:cNvPr id="13" name="Picture 12" descr="diagram_concept.png"/>
          <p:cNvPicPr>
            <a:picLocks noChangeAspect="1"/>
          </p:cNvPicPr>
          <p:nvPr/>
        </p:nvPicPr>
        <p:blipFill>
          <a:blip r:embed="rId3"/>
          <a:stretch>
            <a:fillRect/>
          </a:stretch>
        </p:blipFill>
        <p:spPr>
          <a:xfrm>
            <a:off x="7406640" y="1417320"/>
            <a:ext cx="4206240" cy="2834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Problem Statement &amp; Motivation</a:t>
            </a:r>
            <a:endParaRPr lang="en-US" sz="3100"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sp>
      <p:sp>
        <p:nvSpPr>
          <p:cNvPr id="6" name="Text 4"/>
          <p:cNvSpPr txBox="1"/>
          <p:nvPr/>
        </p:nvSpPr>
        <p:spPr>
          <a:xfrm>
            <a:off x="914400" y="1627632"/>
            <a:ext cx="10424160" cy="256032"/>
          </a:xfrm>
          <a:prstGeom prst="rect">
            <a:avLst/>
          </a:prstGeom>
          <a:noFill/>
          <a:ln/>
        </p:spPr>
        <p:txBody>
          <a:bodyPr wrap="square" lIns="0" tIns="0" rIns="0" bIns="0" rtlCol="0" anchor="ctr"/>
          <a:lstStyle/>
          <a:p>
            <a:pPr marL="0" indent="0">
              <a:buNone/>
            </a:pPr>
            <a:r>
              <a:rPr lang="en-US" sz="1050" b="1" kern="0" spc="200" dirty="0">
                <a:solidFill>
                  <a:srgbClr val="A4161A"/>
                </a:solidFill>
                <a:latin typeface="Calibri" pitchFamily="34" charset="0"/>
                <a:ea typeface="Calibri" pitchFamily="34" charset="-122"/>
                <a:cs typeface="Calibri" pitchFamily="34" charset="-120"/>
              </a:rPr>
              <a:t>PROBLEM STATEMENT</a:t>
            </a:r>
            <a:endParaRPr lang="en-US" sz="1050" dirty="0"/>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pPr marL="0" indent="0">
              <a:buNone/>
            </a:pPr>
            <a:r>
              <a:rPr lang="en-US" sz="2000" b="1" dirty="0">
                <a:solidFill>
                  <a:srgbClr val="1B2A55"/>
                </a:solidFill>
                <a:latin typeface="Cambria" pitchFamily="34" charset="0"/>
                <a:ea typeface="Cambria" pitchFamily="34" charset="-122"/>
                <a:cs typeface="Cambria" pitchFamily="34" charset="-120"/>
              </a:rPr>
              <a:t>" Existing recruitment workflows depend on manual resume reading because resumes are unstructured free text, which makes first-round shortlisting slow, inconsistent and hard to scale as applications per opening rise. "</a:t>
            </a:r>
            <a:endParaRPr lang="en-US" sz="2000" dirty="0"/>
          </a:p>
        </p:txBody>
      </p:sp>
      <p:sp>
        <p:nvSpPr>
          <p:cNvPr id="8" name="Shape 6"/>
          <p:cNvSpPr/>
          <p:nvPr/>
        </p:nvSpPr>
        <p:spPr>
          <a:xfrm>
            <a:off x="548640" y="3291840"/>
            <a:ext cx="3520440" cy="2606040"/>
          </a:xfrm>
          <a:prstGeom prst="roundRect">
            <a:avLst>
              <a:gd name="adj" fmla="val 2807"/>
            </a:avLst>
          </a:prstGeom>
          <a:solidFill>
            <a:srgbClr val="F1F4F9"/>
          </a:solidFill>
          <a:ln w="12700">
            <a:solidFill>
              <a:srgbClr val="DDE3EC"/>
            </a:solidFill>
            <a:prstDash val="solid"/>
          </a:ln>
        </p:spPr>
      </p:sp>
      <p:sp>
        <p:nvSpPr>
          <p:cNvPr id="9" name="Shape 7"/>
          <p:cNvSpPr/>
          <p:nvPr/>
        </p:nvSpPr>
        <p:spPr>
          <a:xfrm>
            <a:off x="777240" y="3520440"/>
            <a:ext cx="384048" cy="384048"/>
          </a:xfrm>
          <a:prstGeom prst="ellipse">
            <a:avLst/>
          </a:prstGeom>
          <a:solidFill>
            <a:srgbClr val="C8A02C"/>
          </a:solidFill>
          <a:ln/>
        </p:spPr>
      </p:sp>
      <p:sp>
        <p:nvSpPr>
          <p:cNvPr id="10" name="Text 8"/>
          <p:cNvSpPr txBox="1"/>
          <p:nvPr/>
        </p:nvSpPr>
        <p:spPr>
          <a:xfrm>
            <a:off x="77724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77240" y="4023360"/>
            <a:ext cx="3063240" cy="457200"/>
          </a:xfrm>
          <a:prstGeom prst="rect">
            <a:avLst/>
          </a:prstGeom>
          <a:noFill/>
          <a:ln/>
        </p:spPr>
        <p:txBody>
          <a:bodyPr wrap="square" lIns="0" tIns="0" rIns="0" bIns="0" rtlCol="0" anchor="ctr"/>
          <a:lstStyle/>
          <a:p>
            <a:pPr marL="0" indent="0">
              <a:buNone/>
            </a:pPr>
            <a:r>
              <a:rPr lang="en-US" sz="1500" b="1" dirty="0">
                <a:solidFill>
                  <a:srgbClr val="1B2A55"/>
                </a:solidFill>
                <a:latin typeface="Calibri" pitchFamily="34" charset="0"/>
                <a:ea typeface="Calibri" pitchFamily="34" charset="-122"/>
                <a:cs typeface="Calibri" pitchFamily="34" charset="-120"/>
              </a:rPr>
              <a:t>Who is affected?</a:t>
            </a:r>
            <a:endParaRPr lang="en-US" sz="1500" dirty="0"/>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Recruiters and campus placement cells screening high volumes of resumes per opening - and candidates whose relevant skills get overlooked in a manual pass.</a:t>
            </a:r>
            <a:endParaRPr lang="en-US" sz="1250" dirty="0"/>
          </a:p>
        </p:txBody>
      </p:sp>
      <p:sp>
        <p:nvSpPr>
          <p:cNvPr id="13" name="Shape 11"/>
          <p:cNvSpPr/>
          <p:nvPr/>
        </p:nvSpPr>
        <p:spPr>
          <a:xfrm>
            <a:off x="4297680" y="3291840"/>
            <a:ext cx="3520440" cy="2606040"/>
          </a:xfrm>
          <a:prstGeom prst="roundRect">
            <a:avLst>
              <a:gd name="adj" fmla="val 2807"/>
            </a:avLst>
          </a:prstGeom>
          <a:solidFill>
            <a:srgbClr val="F1F4F9"/>
          </a:solidFill>
          <a:ln w="12700">
            <a:solidFill>
              <a:srgbClr val="DDE3EC"/>
            </a:solidFill>
            <a:prstDash val="solid"/>
          </a:ln>
        </p:spPr>
      </p:sp>
      <p:sp>
        <p:nvSpPr>
          <p:cNvPr id="14" name="Shape 12"/>
          <p:cNvSpPr/>
          <p:nvPr/>
        </p:nvSpPr>
        <p:spPr>
          <a:xfrm>
            <a:off x="4526280" y="3520440"/>
            <a:ext cx="384048" cy="384048"/>
          </a:xfrm>
          <a:prstGeom prst="ellipse">
            <a:avLst/>
          </a:prstGeom>
          <a:solidFill>
            <a:srgbClr val="C8A02C"/>
          </a:solidFill>
          <a:ln/>
        </p:spPr>
      </p:sp>
      <p:sp>
        <p:nvSpPr>
          <p:cNvPr id="15" name="Text 13"/>
          <p:cNvSpPr txBox="1"/>
          <p:nvPr/>
        </p:nvSpPr>
        <p:spPr>
          <a:xfrm>
            <a:off x="452628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26280" y="4023360"/>
            <a:ext cx="3063240" cy="457200"/>
          </a:xfrm>
          <a:prstGeom prst="rect">
            <a:avLst/>
          </a:prstGeom>
          <a:noFill/>
          <a:ln/>
        </p:spPr>
        <p:txBody>
          <a:bodyPr wrap="square" lIns="0" tIns="0" rIns="0" bIns="0" rtlCol="0" anchor="ctr"/>
          <a:lstStyle/>
          <a:p>
            <a:pPr marL="0" indent="0">
              <a:buNone/>
            </a:pPr>
            <a:r>
              <a:rPr lang="en-US" sz="1500" b="1" dirty="0">
                <a:solidFill>
                  <a:srgbClr val="1B2A55"/>
                </a:solidFill>
                <a:latin typeface="Calibri" pitchFamily="34" charset="0"/>
                <a:ea typeface="Calibri" pitchFamily="34" charset="-122"/>
                <a:cs typeface="Calibri" pitchFamily="34" charset="-120"/>
              </a:rPr>
              <a:t>What is the cost of the problem?</a:t>
            </a:r>
            <a:endParaRPr lang="en-US" sz="1500" dirty="0"/>
          </a:p>
        </p:txBody>
      </p:sp>
      <p:sp>
        <p:nvSpPr>
          <p:cNvPr id="17" name="Text 15"/>
          <p:cNvSpPr txBox="1"/>
          <p:nvPr/>
        </p:nvSpPr>
        <p:spPr>
          <a:xfrm>
            <a:off x="4526280" y="4526280"/>
            <a:ext cx="3063240" cy="123444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Screening is the most repetitive stage of hiring. Automated systems already reach 92% ranking accuracy [1], showing how much of this effort is mechanical.</a:t>
            </a:r>
            <a:endParaRPr lang="en-US" sz="1250" dirty="0"/>
          </a:p>
        </p:txBody>
      </p:sp>
      <p:sp>
        <p:nvSpPr>
          <p:cNvPr id="18" name="Shape 16"/>
          <p:cNvSpPr/>
          <p:nvPr/>
        </p:nvSpPr>
        <p:spPr>
          <a:xfrm>
            <a:off x="8046720" y="3291840"/>
            <a:ext cx="3520440" cy="2606040"/>
          </a:xfrm>
          <a:prstGeom prst="roundRect">
            <a:avLst>
              <a:gd name="adj" fmla="val 2807"/>
            </a:avLst>
          </a:prstGeom>
          <a:solidFill>
            <a:srgbClr val="F1F4F9"/>
          </a:solidFill>
          <a:ln w="12700">
            <a:solidFill>
              <a:srgbClr val="DDE3EC"/>
            </a:solidFill>
            <a:prstDash val="solid"/>
          </a:ln>
        </p:spPr>
      </p:sp>
      <p:sp>
        <p:nvSpPr>
          <p:cNvPr id="19" name="Shape 17"/>
          <p:cNvSpPr/>
          <p:nvPr/>
        </p:nvSpPr>
        <p:spPr>
          <a:xfrm>
            <a:off x="8275320" y="3520440"/>
            <a:ext cx="384048" cy="384048"/>
          </a:xfrm>
          <a:prstGeom prst="ellipse">
            <a:avLst/>
          </a:prstGeom>
          <a:solidFill>
            <a:srgbClr val="C8A02C"/>
          </a:solidFill>
          <a:ln/>
        </p:spPr>
      </p:sp>
      <p:sp>
        <p:nvSpPr>
          <p:cNvPr id="20" name="Text 18"/>
          <p:cNvSpPr txBox="1"/>
          <p:nvPr/>
        </p:nvSpPr>
        <p:spPr>
          <a:xfrm>
            <a:off x="8275320" y="352044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75320" y="4023360"/>
            <a:ext cx="3063240" cy="457200"/>
          </a:xfrm>
          <a:prstGeom prst="rect">
            <a:avLst/>
          </a:prstGeom>
          <a:noFill/>
          <a:ln/>
        </p:spPr>
        <p:txBody>
          <a:bodyPr wrap="square" lIns="0" tIns="0" rIns="0" bIns="0" rtlCol="0" anchor="ctr"/>
          <a:lstStyle/>
          <a:p>
            <a:pPr marL="0" indent="0">
              <a:buNone/>
            </a:pPr>
            <a:r>
              <a:rPr lang="en-US" sz="1500" b="1" dirty="0">
                <a:solidFill>
                  <a:srgbClr val="1B2A55"/>
                </a:solidFill>
                <a:latin typeface="Calibri" pitchFamily="34" charset="0"/>
                <a:ea typeface="Calibri" pitchFamily="34" charset="-122"/>
                <a:cs typeface="Calibri" pitchFamily="34" charset="-120"/>
              </a:rPr>
              <a:t>Why solve it now?</a:t>
            </a:r>
            <a:endParaRPr lang="en-US" sz="1500" dirty="0"/>
          </a:p>
        </p:txBody>
      </p:sp>
      <p:sp>
        <p:nvSpPr>
          <p:cNvPr id="22" name="Text 20"/>
          <p:cNvSpPr txBox="1"/>
          <p:nvPr/>
        </p:nvSpPr>
        <p:spPr>
          <a:xfrm>
            <a:off x="8275320" y="4526280"/>
            <a:ext cx="3063240" cy="123444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Public resume corpora and mature NLP libraries (spaCy, scikit-learn) make this feasible, and surveyed systems stop at a score without reporting which skills are missing.</a:t>
            </a:r>
            <a:endParaRPr lang="en-US" sz="1250" dirty="0"/>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3</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Literature Survey</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10 papers studied; the 4 most relevant to resume-to-job-description matching are shown here.</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3255264"/>
        </p:xfrm>
        <a:graphic>
          <a:graphicData uri="http://schemas.openxmlformats.org/drawingml/2006/table">
            <a:tbl>
              <a:tblPr/>
              <a:tblGrid>
                <a:gridCol w="5486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411480">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Author &amp; Year</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Title / Technique Used</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Dataset / Tools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Key Findings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100" b="1" dirty="0">
                          <a:solidFill>
                            <a:srgbClr val="1F2430"/>
                          </a:solidFill>
                          <a:latin typeface="Calibri" pitchFamily="34" charset="0"/>
                          <a:ea typeface="Calibri" pitchFamily="34" charset="-122"/>
                          <a:cs typeface="Calibri" pitchFamily="34" charset="-120"/>
                        </a:rPr>
                        <a:t>Limitation / Gap</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8680">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Tejaswini et al. (2022)</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ML-based resume ranking; Cosine Similarity + KNN</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Resume &amp; JD text; Python</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85% text parsing accuracy, 92% ranking accuracy</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Returns a rank only - no matched / missing skill feedback</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Fareed, Kaganurmath &amp; Rajath (2021)</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Resume classification and ranking using KNN and Cosine Similarity</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Resume corpus; Python</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Classifies resumes into job categories, then ranks within a category</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KNN cost grows with corpus size; no NER-based skill extraction</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Kinge, Mandhare, Chavan &amp; Chaware (2022)</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Resume screening using Machine Learning and NLP (proposed system)</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Resume text; NLP pipeline</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Defines an end-to-end screening pipeline for e-recruitment</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Proposal stage - limited quantitative evaluation reported</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Schneider et al. (2025), CareerBERT</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Transformer embeddings for resume-to-job matching (ESCO)</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ESCO taxonomy, job advertisements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Embeddings capture semantic relations that TF-IDF alone misses</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050" dirty="0">
                          <a:solidFill>
                            <a:srgbClr val="1F2430"/>
                          </a:solidFill>
                          <a:latin typeface="Calibri" pitchFamily="34" charset="0"/>
                          <a:ea typeface="Calibri" pitchFamily="34" charset="-122"/>
                          <a:cs typeface="Calibri" pitchFamily="34" charset="-120"/>
                        </a:rPr>
                        <a:t>Large pretrained model - heavy to train and deploy on ordinary hardware</a:t>
                      </a:r>
                      <a:endParaRPr lang="en-US" sz="1150" dirty="0">
                        <a:latin typeface="Calibri" charset="0"/>
                        <a:ea typeface="Calibri" charset="0"/>
                        <a:cs typeface="Calibri" charset="0"/>
                      </a:endParaRPr>
                    </a:p>
                  </a:txBody>
                  <a:tcPr marL="76200" marR="76200" marT="76200" marB="76200">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3"/>
          <p:cNvSpPr txBox="1"/>
          <p:nvPr/>
        </p:nvSpPr>
        <p:spPr>
          <a:xfrm>
            <a:off x="548640" y="5440680"/>
            <a:ext cx="11064240" cy="320040"/>
          </a:xfrm>
          <a:prstGeom prst="rect">
            <a:avLst/>
          </a:prstGeom>
          <a:noFill/>
          <a:ln/>
        </p:spPr>
        <p:txBody>
          <a:bodyPr wrap="square" lIns="0" tIns="0" rIns="0" bIns="0" rtlCol="0" anchor="ctr"/>
          <a:lstStyle/>
          <a:p>
            <a:pPr marL="0" indent="0">
              <a:buNone/>
            </a:pPr>
            <a:r>
              <a:rPr lang="en-US" sz="1250" b="1" i="1" dirty="0">
                <a:solidFill>
                  <a:srgbClr val="A4161A"/>
                </a:solidFill>
                <a:latin typeface="Calibri" pitchFamily="34" charset="0"/>
                <a:ea typeface="Calibri" pitchFamily="34" charset="-122"/>
                <a:cs typeface="Calibri" pitchFamily="34" charset="-120"/>
              </a:rPr>
              <a:t>The last column is where our research gap comes from - every paper returns a score, none returns the skill gap.</a:t>
            </a:r>
            <a:endParaRPr lang="en-US" sz="1250" dirty="0"/>
          </a:p>
        </p:txBody>
      </p:sp>
      <p:sp>
        <p:nvSpPr>
          <p:cNvPr id="7" name="Text 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4</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Research Gap Identified</a:t>
            </a:r>
            <a:endParaRPr lang="en-US" sz="3100" dirty="0"/>
          </a:p>
        </p:txBody>
      </p:sp>
      <p:sp>
        <p:nvSpPr>
          <p:cNvPr id="4" name="Shape 2"/>
          <p:cNvSpPr/>
          <p:nvPr/>
        </p:nvSpPr>
        <p:spPr>
          <a:xfrm>
            <a:off x="548640" y="1463040"/>
            <a:ext cx="6766560" cy="987552"/>
          </a:xfrm>
          <a:prstGeom prst="roundRect">
            <a:avLst>
              <a:gd name="adj" fmla="val 7407"/>
            </a:avLst>
          </a:prstGeom>
          <a:solidFill>
            <a:srgbClr val="F1F4F9"/>
          </a:solidFill>
          <a:ln w="12700">
            <a:solidFill>
              <a:srgbClr val="DDE3EC"/>
            </a:solidFill>
            <a:prstDash val="solid"/>
          </a:ln>
        </p:spPr>
      </p:sp>
      <p:sp>
        <p:nvSpPr>
          <p:cNvPr id="5" name="Text 3"/>
          <p:cNvSpPr txBox="1"/>
          <p:nvPr/>
        </p:nvSpPr>
        <p:spPr>
          <a:xfrm>
            <a:off x="868680" y="1591056"/>
            <a:ext cx="1828800" cy="237744"/>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GAP 1  -  DATA</a:t>
            </a:r>
            <a:endParaRPr lang="en-US" sz="1000" dirty="0"/>
          </a:p>
        </p:txBody>
      </p:sp>
      <p:sp>
        <p:nvSpPr>
          <p:cNvPr id="6" name="Text 4"/>
          <p:cNvSpPr txBox="1"/>
          <p:nvPr/>
        </p:nvSpPr>
        <p:spPr>
          <a:xfrm>
            <a:off x="868680" y="1847088"/>
            <a:ext cx="6172200" cy="502920"/>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Most surveyed systems are evaluated on private or unspecified resume sets; few report results on a public, category-labelled corpus.</a:t>
            </a:r>
            <a:endParaRPr lang="en-US" sz="1350" dirty="0"/>
          </a:p>
        </p:txBody>
      </p:sp>
      <p:sp>
        <p:nvSpPr>
          <p:cNvPr id="7" name="Shape 5"/>
          <p:cNvSpPr/>
          <p:nvPr/>
        </p:nvSpPr>
        <p:spPr>
          <a:xfrm>
            <a:off x="548640" y="2606040"/>
            <a:ext cx="6766560" cy="987552"/>
          </a:xfrm>
          <a:prstGeom prst="roundRect">
            <a:avLst>
              <a:gd name="adj" fmla="val 7407"/>
            </a:avLst>
          </a:prstGeom>
          <a:solidFill>
            <a:srgbClr val="F1F4F9"/>
          </a:solidFill>
          <a:ln w="12700">
            <a:solidFill>
              <a:srgbClr val="DDE3EC"/>
            </a:solidFill>
            <a:prstDash val="solid"/>
          </a:ln>
        </p:spPr>
      </p:sp>
      <p:sp>
        <p:nvSpPr>
          <p:cNvPr id="8" name="Text 6"/>
          <p:cNvSpPr txBox="1"/>
          <p:nvPr/>
        </p:nvSpPr>
        <p:spPr>
          <a:xfrm>
            <a:off x="868680" y="2734056"/>
            <a:ext cx="1828800" cy="237744"/>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GAP 2  -  METHOD</a:t>
            </a:r>
            <a:endParaRPr lang="en-US" sz="1000" dirty="0"/>
          </a:p>
        </p:txBody>
      </p:sp>
      <p:sp>
        <p:nvSpPr>
          <p:cNvPr id="9" name="Text 7"/>
          <p:cNvSpPr txBox="1"/>
          <p:nvPr/>
        </p:nvSpPr>
        <p:spPr>
          <a:xfrm>
            <a:off x="868680" y="2990088"/>
            <a:ext cx="6172200" cy="502920"/>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Existing work does not report which required skills a candidate has and which they are missing - only a single similarity score.</a:t>
            </a:r>
            <a:endParaRPr lang="en-US" sz="1350" dirty="0"/>
          </a:p>
        </p:txBody>
      </p:sp>
      <p:sp>
        <p:nvSpPr>
          <p:cNvPr id="10" name="Shape 8"/>
          <p:cNvSpPr/>
          <p:nvPr/>
        </p:nvSpPr>
        <p:spPr>
          <a:xfrm>
            <a:off x="548640" y="3749040"/>
            <a:ext cx="6766560" cy="987552"/>
          </a:xfrm>
          <a:prstGeom prst="roundRect">
            <a:avLst>
              <a:gd name="adj" fmla="val 7407"/>
            </a:avLst>
          </a:prstGeom>
          <a:solidFill>
            <a:srgbClr val="F1F4F9"/>
          </a:solidFill>
          <a:ln w="12700">
            <a:solidFill>
              <a:srgbClr val="DDE3EC"/>
            </a:solidFill>
            <a:prstDash val="solid"/>
          </a:ln>
        </p:spPr>
      </p:sp>
      <p:sp>
        <p:nvSpPr>
          <p:cNvPr id="11" name="Text 9"/>
          <p:cNvSpPr txBox="1"/>
          <p:nvPr/>
        </p:nvSpPr>
        <p:spPr>
          <a:xfrm>
            <a:off x="868680" y="3877056"/>
            <a:ext cx="1828800" cy="237744"/>
          </a:xfrm>
          <a:prstGeom prst="rect">
            <a:avLst/>
          </a:prstGeom>
          <a:noFill/>
          <a:ln/>
        </p:spPr>
        <p:txBody>
          <a:bodyPr wrap="square" lIns="0" tIns="0" rIns="0" bIns="0" rtlCol="0" anchor="ctr"/>
          <a:lstStyle/>
          <a:p>
            <a:pPr marL="0" indent="0">
              <a:buNone/>
            </a:pPr>
            <a:r>
              <a:rPr lang="en-US" sz="1000" b="1" kern="0" spc="150" dirty="0">
                <a:solidFill>
                  <a:srgbClr val="C8A02C"/>
                </a:solidFill>
                <a:latin typeface="Calibri" pitchFamily="34" charset="0"/>
                <a:ea typeface="Calibri" pitchFamily="34" charset="-122"/>
                <a:cs typeface="Calibri" pitchFamily="34" charset="-120"/>
              </a:rPr>
              <a:t>GAP 3  -  DEPLOYMENT</a:t>
            </a:r>
            <a:endParaRPr lang="en-US" sz="1000" dirty="0"/>
          </a:p>
        </p:txBody>
      </p:sp>
      <p:sp>
        <p:nvSpPr>
          <p:cNvPr id="12" name="Text 10"/>
          <p:cNvSpPr txBox="1"/>
          <p:nvPr/>
        </p:nvSpPr>
        <p:spPr>
          <a:xfrm>
            <a:off x="868680" y="4133088"/>
            <a:ext cx="6172200" cy="502920"/>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Transformer-based matching improves semantics but is heavy; a lightweight, interpretable pipeline for ordinary hardware is under-explored.</a:t>
            </a:r>
            <a:endParaRPr lang="en-US" sz="1350" dirty="0"/>
          </a:p>
        </p:txBody>
      </p:sp>
      <p:sp>
        <p:nvSpPr>
          <p:cNvPr id="13" name="Shape 11"/>
          <p:cNvSpPr/>
          <p:nvPr/>
        </p:nvSpPr>
        <p:spPr>
          <a:xfrm>
            <a:off x="7635240" y="1463040"/>
            <a:ext cx="3977640" cy="3502152"/>
          </a:xfrm>
          <a:prstGeom prst="roundRect">
            <a:avLst>
              <a:gd name="adj" fmla="val 2089"/>
            </a:avLst>
          </a:prstGeom>
          <a:solidFill>
            <a:srgbClr val="1B2A55"/>
          </a:solidFill>
          <a:ln w="12700">
            <a:solidFill>
              <a:srgbClr val="1B2A55"/>
            </a:solidFill>
            <a:prstDash val="solid"/>
          </a:ln>
        </p:spPr>
      </p:sp>
      <p:sp>
        <p:nvSpPr>
          <p:cNvPr id="14" name="Text 12"/>
          <p:cNvSpPr txBox="1"/>
          <p:nvPr/>
        </p:nvSpPr>
        <p:spPr>
          <a:xfrm>
            <a:off x="7909560" y="1691640"/>
            <a:ext cx="3429000" cy="274320"/>
          </a:xfrm>
          <a:prstGeom prst="rect">
            <a:avLst/>
          </a:prstGeom>
          <a:noFill/>
          <a:ln/>
        </p:spPr>
        <p:txBody>
          <a:bodyPr wrap="square" lIns="0" tIns="0" rIns="0" bIns="0" rtlCol="0" anchor="ctr"/>
          <a:lstStyle/>
          <a:p>
            <a:pPr marL="0" indent="0">
              <a:buNone/>
            </a:pPr>
            <a:r>
              <a:rPr lang="en-US" sz="1050" b="1" kern="0" spc="150" dirty="0">
                <a:solidFill>
                  <a:srgbClr val="C8A02C"/>
                </a:solidFill>
                <a:latin typeface="Calibri" pitchFamily="34" charset="0"/>
                <a:ea typeface="Calibri" pitchFamily="34" charset="-122"/>
                <a:cs typeface="Calibri" pitchFamily="34" charset="-120"/>
              </a:rPr>
              <a:t>OUR PROJECT ADDRESSES</a:t>
            </a:r>
            <a:endParaRPr lang="en-US" sz="1050" dirty="0"/>
          </a:p>
        </p:txBody>
      </p:sp>
      <p:sp>
        <p:nvSpPr>
          <p:cNvPr id="15" name="Text 13"/>
          <p:cNvSpPr txBox="1"/>
          <p:nvPr/>
        </p:nvSpPr>
        <p:spPr>
          <a:xfrm>
            <a:off x="7909560" y="2057400"/>
            <a:ext cx="3429000" cy="14630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Gap 2: our system returns an explicit matched and missing skill list, not just a score - on a public dataset (Gap 1), using a CPU-only pipeline (Gap 3).</a:t>
            </a:r>
            <a:endParaRPr lang="en-US" sz="1800" dirty="0"/>
          </a:p>
        </p:txBody>
      </p:sp>
      <p:sp>
        <p:nvSpPr>
          <p:cNvPr id="16" name="Text 14"/>
          <p:cNvSpPr txBox="1"/>
          <p:nvPr/>
        </p:nvSpPr>
        <p:spPr>
          <a:xfrm>
            <a:off x="7909560" y="3977640"/>
            <a:ext cx="3429000" cy="822960"/>
          </a:xfrm>
          <a:prstGeom prst="rect">
            <a:avLst/>
          </a:prstGeom>
          <a:noFill/>
          <a:ln/>
        </p:spPr>
        <p:txBody>
          <a:bodyPr wrap="square" lIns="0" tIns="0" rIns="0" bIns="0" rtlCol="0" anchor="ctr"/>
          <a:lstStyle/>
          <a:p>
            <a:pPr marL="0" indent="0">
              <a:buNone/>
            </a:pPr>
            <a:r>
              <a:rPr lang="en-US" sz="1200" i="1" dirty="0">
                <a:solidFill>
                  <a:srgbClr val="AEBBD6"/>
                </a:solidFill>
                <a:latin typeface="Calibri" pitchFamily="34" charset="0"/>
                <a:ea typeface="Calibri" pitchFamily="34" charset="-122"/>
                <a:cs typeface="Calibri" pitchFamily="34" charset="-120"/>
              </a:rPr>
              <a:t>Traceability: Gap 2 comes from the limitation column of papers [1], [2] and [3]; Gap 3 comes from paper [4].</a:t>
            </a:r>
            <a:endParaRPr lang="en-US" sz="1200" dirty="0"/>
          </a:p>
        </p:txBody>
      </p:sp>
      <p:sp>
        <p:nvSpPr>
          <p:cNvPr id="17" name="Text 15"/>
          <p:cNvSpPr txBox="1"/>
          <p:nvPr/>
        </p:nvSpPr>
        <p:spPr>
          <a:xfrm>
            <a:off x="548640" y="5120640"/>
            <a:ext cx="6766560" cy="73152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Every gap above is taken from the last column of the literature survey table on the previous slide.</a:t>
            </a:r>
            <a:endParaRPr lang="en-US" sz="1250" dirty="0"/>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5</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Objectives of the Project</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Four objectives, each demonstrable by the final review and mapped one-to-one to a result.</a:t>
            </a:r>
            <a:endParaRPr lang="en-US" sz="1050" dirty="0"/>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sp>
      <p:sp>
        <p:nvSpPr>
          <p:cNvPr id="6" name="Shape 4"/>
          <p:cNvSpPr/>
          <p:nvPr/>
        </p:nvSpPr>
        <p:spPr>
          <a:xfrm>
            <a:off x="822960" y="1892808"/>
            <a:ext cx="384048" cy="384048"/>
          </a:xfrm>
          <a:prstGeom prst="ellipse">
            <a:avLst/>
          </a:prstGeom>
          <a:solidFill>
            <a:srgbClr val="C8A02C"/>
          </a:solidFill>
          <a:ln/>
        </p:spPr>
      </p:sp>
      <p:sp>
        <p:nvSpPr>
          <p:cNvPr id="7" name="Text 5"/>
          <p:cNvSpPr txBox="1"/>
          <p:nvPr/>
        </p:nvSpPr>
        <p:spPr>
          <a:xfrm>
            <a:off x="822960" y="1892808"/>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collect &amp; prepare the Kaggle Resume Dataset together with a set of job descriptions as the working corpus.</a:t>
            </a:r>
            <a:endParaRPr lang="en-US" sz="1450" dirty="0"/>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sp>
      <p:sp>
        <p:nvSpPr>
          <p:cNvPr id="10" name="Shape 8"/>
          <p:cNvSpPr/>
          <p:nvPr/>
        </p:nvSpPr>
        <p:spPr>
          <a:xfrm>
            <a:off x="822960" y="2971800"/>
            <a:ext cx="384048" cy="384048"/>
          </a:xfrm>
          <a:prstGeom prst="ellipse">
            <a:avLst/>
          </a:prstGeom>
          <a:solidFill>
            <a:srgbClr val="C8A02C"/>
          </a:solidFill>
          <a:ln/>
        </p:spPr>
      </p:sp>
      <p:sp>
        <p:nvSpPr>
          <p:cNvPr id="11" name="Text 9"/>
          <p:cNvSpPr txBox="1"/>
          <p:nvPr/>
        </p:nvSpPr>
        <p:spPr>
          <a:xfrm>
            <a:off x="822960" y="2971800"/>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design &amp; implement a spaCy NER module for skill extraction and a TF-IDF + Cosine Similarity module for scoring.</a:t>
            </a:r>
            <a:endParaRPr lang="en-US" sz="1450" dirty="0"/>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sp>
      <p:sp>
        <p:nvSpPr>
          <p:cNvPr id="14" name="Shape 12"/>
          <p:cNvSpPr/>
          <p:nvPr/>
        </p:nvSpPr>
        <p:spPr>
          <a:xfrm>
            <a:off x="822960" y="4050792"/>
            <a:ext cx="384048" cy="384048"/>
          </a:xfrm>
          <a:prstGeom prst="ellipse">
            <a:avLst/>
          </a:prstGeom>
          <a:solidFill>
            <a:srgbClr val="C8A02C"/>
          </a:solidFill>
          <a:ln/>
        </p:spPr>
      </p:sp>
      <p:sp>
        <p:nvSpPr>
          <p:cNvPr id="15" name="Text 13"/>
          <p:cNvSpPr txBox="1"/>
          <p:nvPr/>
        </p:nvSpPr>
        <p:spPr>
          <a:xfrm>
            <a:off x="822960" y="4050792"/>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evaluate ranking quality using Precision@k and agreement with a manually shortlisted set of candidates.</a:t>
            </a:r>
            <a:endParaRPr lang="en-US" sz="1450" dirty="0"/>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sp>
      <p:sp>
        <p:nvSpPr>
          <p:cNvPr id="18" name="Shape 16"/>
          <p:cNvSpPr/>
          <p:nvPr/>
        </p:nvSpPr>
        <p:spPr>
          <a:xfrm>
            <a:off x="822960" y="5129784"/>
            <a:ext cx="384048" cy="384048"/>
          </a:xfrm>
          <a:prstGeom prst="ellipse">
            <a:avLst/>
          </a:prstGeom>
          <a:solidFill>
            <a:srgbClr val="C8A02C"/>
          </a:solidFill>
          <a:ln/>
        </p:spPr>
      </p:sp>
      <p:sp>
        <p:nvSpPr>
          <p:cNvPr id="19" name="Text 17"/>
          <p:cNvSpPr txBox="1"/>
          <p:nvPr/>
        </p:nvSpPr>
        <p:spPr>
          <a:xfrm>
            <a:off x="822960" y="5129784"/>
            <a:ext cx="384048" cy="384048"/>
          </a:xfrm>
          <a:prstGeom prst="rect">
            <a:avLst/>
          </a:prstGeom>
          <a:noFill/>
          <a:ln/>
        </p:spPr>
        <p:txBody>
          <a:bodyPr wrap="square" lIns="0" tIns="0" rIns="0" bIns="0" rtlCol="0" anchor="ctr"/>
          <a:lstStyle/>
          <a:p>
            <a:pPr marL="0" indent="0" algn="ctr">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pPr marL="0" indent="0">
              <a:buNone/>
            </a:pPr>
            <a:r>
              <a:rPr lang="en-US" sz="1450" b="1" dirty="0">
                <a:solidFill>
                  <a:srgbClr val="1B2A55"/>
                </a:solidFill>
                <a:latin typeface="Calibri" pitchFamily="34" charset="0"/>
                <a:ea typeface="Calibri" pitchFamily="34" charset="-122"/>
                <a:cs typeface="Calibri" pitchFamily="34" charset="-120"/>
              </a:rPr>
              <a:t>To deploy &amp; demonstrate an interface that returns a ranked table with each candidate's match score, matched skills and missing skills.</a:t>
            </a:r>
            <a:endParaRPr lang="en-US" sz="1450" dirty="0"/>
          </a:p>
        </p:txBody>
      </p:sp>
      <p:sp>
        <p:nvSpPr>
          <p:cNvPr id="21" name="Text 19"/>
          <p:cNvSpPr txBox="1"/>
          <p:nvPr/>
        </p:nvSpPr>
        <p:spPr>
          <a:xfrm>
            <a:off x="548640" y="5943600"/>
            <a:ext cx="11064240" cy="274320"/>
          </a:xfrm>
          <a:prstGeom prst="rect">
            <a:avLst/>
          </a:prstGeom>
          <a:noFill/>
          <a:ln/>
        </p:spPr>
        <p:txBody>
          <a:bodyPr wrap="square" lIns="0" tIns="0" rIns="0" bIns="0" rtlCol="0" anchor="ctr"/>
          <a:lstStyle/>
          <a:p>
            <a:pPr marL="0" indent="0">
              <a:buNone/>
            </a:pPr>
            <a:r>
              <a:rPr lang="en-US" sz="1200" i="1" dirty="0">
                <a:solidFill>
                  <a:srgbClr val="A4161A"/>
                </a:solidFill>
                <a:latin typeface="Calibri" pitchFamily="34" charset="0"/>
                <a:ea typeface="Calibri" pitchFamily="34" charset="-122"/>
                <a:cs typeface="Calibri" pitchFamily="34" charset="-120"/>
              </a:rPr>
              <a:t>Tip: objectives and results must match one-to-one at the final review.</a:t>
            </a:r>
            <a:endParaRPr lang="en-US" sz="1200" dirty="0"/>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sp>
      <p:sp>
        <p:nvSpPr>
          <p:cNvPr id="5" name="Text 3"/>
          <p:cNvSpPr txBox="1"/>
          <p:nvPr/>
        </p:nvSpPr>
        <p:spPr>
          <a:xfrm>
            <a:off x="685800"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Resume files +</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job description</a:t>
            </a:r>
            <a:endParaRPr lang="en-US" sz="1200" dirty="0"/>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sp>
      <p:sp>
        <p:nvSpPr>
          <p:cNvPr id="9" name="Text 7"/>
          <p:cNvSpPr txBox="1"/>
          <p:nvPr/>
        </p:nvSpPr>
        <p:spPr>
          <a:xfrm>
            <a:off x="3575304"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PRE-PROCESSING</a:t>
            </a:r>
            <a:endParaRPr lang="en-US" sz="120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Cleaning, stop-words,</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lemmatisation</a:t>
            </a:r>
            <a:endParaRPr lang="en-US" sz="1200" dirty="0"/>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sp>
      <p:sp>
        <p:nvSpPr>
          <p:cNvPr id="13" name="Text 11"/>
          <p:cNvSpPr txBox="1"/>
          <p:nvPr/>
        </p:nvSpPr>
        <p:spPr>
          <a:xfrm>
            <a:off x="6464808"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C8A02C"/>
                </a:solidFill>
                <a:latin typeface="Calibri" pitchFamily="34" charset="0"/>
                <a:ea typeface="Calibri" pitchFamily="34" charset="-122"/>
                <a:cs typeface="Calibri" pitchFamily="34" charset="-120"/>
              </a:rPr>
              <a:t>CORE MODULE</a:t>
            </a:r>
            <a:endParaRPr lang="en-US" sz="120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spaCy NER, TF-IDF,</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Cosine Similarity</a:t>
            </a:r>
            <a:endParaRPr lang="en-US" sz="1200" dirty="0"/>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sp>
      <p:sp>
        <p:nvSpPr>
          <p:cNvPr id="17" name="Text 15"/>
          <p:cNvSpPr txBox="1"/>
          <p:nvPr/>
        </p:nvSpPr>
        <p:spPr>
          <a:xfrm>
            <a:off x="9354312" y="1920240"/>
            <a:ext cx="2286000" cy="292608"/>
          </a:xfrm>
          <a:prstGeom prst="rect">
            <a:avLst/>
          </a:prstGeom>
          <a:noFill/>
          <a:ln/>
        </p:spPr>
        <p:txBody>
          <a:bodyPr wrap="square" lIns="0" tIns="0" rIns="0" bIns="0" rtlCol="0" anchor="ctr"/>
          <a:lstStyle/>
          <a:p>
            <a:pPr marL="0" indent="0" algn="ctr">
              <a:buNone/>
            </a:pPr>
            <a:r>
              <a:rPr lang="en-US" sz="1200" b="1" kern="0" spc="120" dirty="0">
                <a:solidFill>
                  <a:srgbClr val="1B2A55"/>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marL="0" indent="0" algn="ctr">
              <a:buNone/>
            </a:pPr>
            <a:r>
              <a:rPr lang="en-US" sz="1200" dirty="0">
                <a:solidFill>
                  <a:srgbClr val="1F2430"/>
                </a:solidFill>
                <a:latin typeface="Calibri" pitchFamily="34" charset="0"/>
                <a:ea typeface="Calibri" pitchFamily="34" charset="-122"/>
                <a:cs typeface="Calibri" pitchFamily="34" charset="-120"/>
              </a:rPr>
              <a:t>Ranked list + score</a:t>
            </a:r>
            <a:endParaRPr lang="en-US" sz="1200" dirty="0"/>
          </a:p>
          <a:p>
            <a:pPr marL="0" indent="0" algn="ctr">
              <a:buNone/>
            </a:pPr>
            <a:r>
              <a:rPr lang="en-US" sz="1200" dirty="0">
                <a:solidFill>
                  <a:srgbClr val="1F2430"/>
                </a:solidFill>
                <a:latin typeface="Calibri" pitchFamily="34" charset="0"/>
                <a:ea typeface="Calibri" pitchFamily="34" charset="-122"/>
                <a:cs typeface="Calibri" pitchFamily="34" charset="-120"/>
              </a:rPr>
              <a:t>+ skill gaps</a:t>
            </a:r>
            <a:endParaRPr lang="en-US" sz="12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pic>
        <p:nvPicPr>
          <p:cNvPr id="26" name="Picture 25" descr="diagram_arch.png"/>
          <p:cNvPicPr>
            <a:picLocks noChangeAspect="1"/>
          </p:cNvPicPr>
          <p:nvPr/>
        </p:nvPicPr>
        <p:blipFill>
          <a:blip r:embed="rId3"/>
          <a:stretch>
            <a:fillRect/>
          </a:stretch>
        </p:blipFill>
        <p:spPr>
          <a:xfrm>
            <a:off x="548640" y="3749040"/>
            <a:ext cx="11064240" cy="21031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sp>
      <p:sp>
        <p:nvSpPr>
          <p:cNvPr id="5" name="Shape 3"/>
          <p:cNvSpPr/>
          <p:nvPr/>
        </p:nvSpPr>
        <p:spPr>
          <a:xfrm>
            <a:off x="822960" y="1737360"/>
            <a:ext cx="411480" cy="411480"/>
          </a:xfrm>
          <a:prstGeom prst="ellipse">
            <a:avLst/>
          </a:prstGeom>
          <a:solidFill>
            <a:srgbClr val="1B2A55"/>
          </a:solidFill>
          <a:ln/>
        </p:spPr>
      </p:sp>
      <p:sp>
        <p:nvSpPr>
          <p:cNvPr id="6" name="Text 4"/>
          <p:cNvSpPr txBox="1"/>
          <p:nvPr/>
        </p:nvSpPr>
        <p:spPr>
          <a:xfrm>
            <a:off x="82296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1 - Data</a:t>
            </a:r>
            <a:endParaRPr lang="en-US" sz="1600" dirty="0"/>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Kaggle Resume Dataset (resume text across professional categories) plus collected job descriptions; split into a development set and a held-out evaluation set.</a:t>
            </a:r>
            <a:endParaRPr lang="en-US" sz="1300" dirty="0"/>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sp>
      <p:sp>
        <p:nvSpPr>
          <p:cNvPr id="10" name="Shape 8"/>
          <p:cNvSpPr/>
          <p:nvPr/>
        </p:nvSpPr>
        <p:spPr>
          <a:xfrm>
            <a:off x="6492240" y="1737360"/>
            <a:ext cx="411480" cy="411480"/>
          </a:xfrm>
          <a:prstGeom prst="ellipse">
            <a:avLst/>
          </a:prstGeom>
          <a:solidFill>
            <a:srgbClr val="1B2A55"/>
          </a:solidFill>
          <a:ln/>
        </p:spPr>
      </p:sp>
      <p:sp>
        <p:nvSpPr>
          <p:cNvPr id="11" name="Text 9"/>
          <p:cNvSpPr txBox="1"/>
          <p:nvPr/>
        </p:nvSpPr>
        <p:spPr>
          <a:xfrm>
            <a:off x="6492240" y="173736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2 - Processing</a:t>
            </a:r>
            <a:endParaRPr lang="en-US" sz="1600" dirty="0"/>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Text extraction, lowercasing, stop-word removal and lemmatisation, followed by TF-IDF vectorisation over the combined resume and job-description corpus.</a:t>
            </a:r>
            <a:endParaRPr lang="en-US" sz="1300" dirty="0"/>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sp>
      <p:sp>
        <p:nvSpPr>
          <p:cNvPr id="15" name="Shape 13"/>
          <p:cNvSpPr/>
          <p:nvPr/>
        </p:nvSpPr>
        <p:spPr>
          <a:xfrm>
            <a:off x="822960" y="3977640"/>
            <a:ext cx="411480" cy="411480"/>
          </a:xfrm>
          <a:prstGeom prst="ellipse">
            <a:avLst/>
          </a:prstGeom>
          <a:solidFill>
            <a:srgbClr val="1B2A55"/>
          </a:solidFill>
          <a:ln/>
        </p:spPr>
      </p:sp>
      <p:sp>
        <p:nvSpPr>
          <p:cNvPr id="16" name="Text 14"/>
          <p:cNvSpPr txBox="1"/>
          <p:nvPr/>
        </p:nvSpPr>
        <p:spPr>
          <a:xfrm>
            <a:off x="82296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3 - Core Logic</a:t>
            </a:r>
            <a:endParaRPr lang="en-US" sz="1600" dirty="0"/>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spaCy NER extracts skill entities; Cosine Similarity scores each resume against the JD. Chosen over KNN as it needs no labelled training data and scales to any batch size.</a:t>
            </a:r>
            <a:endParaRPr lang="en-US" sz="1300" dirty="0"/>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sp>
      <p:sp>
        <p:nvSpPr>
          <p:cNvPr id="20" name="Shape 18"/>
          <p:cNvSpPr/>
          <p:nvPr/>
        </p:nvSpPr>
        <p:spPr>
          <a:xfrm>
            <a:off x="6492240" y="3977640"/>
            <a:ext cx="411480" cy="411480"/>
          </a:xfrm>
          <a:prstGeom prst="ellipse">
            <a:avLst/>
          </a:prstGeom>
          <a:solidFill>
            <a:srgbClr val="1B2A55"/>
          </a:solidFill>
          <a:ln/>
        </p:spPr>
      </p:sp>
      <p:sp>
        <p:nvSpPr>
          <p:cNvPr id="21" name="Text 19"/>
          <p:cNvSpPr txBox="1"/>
          <p:nvPr/>
        </p:nvSpPr>
        <p:spPr>
          <a:xfrm>
            <a:off x="6492240" y="3977640"/>
            <a:ext cx="411480" cy="411480"/>
          </a:xfrm>
          <a:prstGeom prst="rect">
            <a:avLst/>
          </a:prstGeom>
          <a:noFill/>
          <a:ln/>
        </p:spPr>
        <p:txBody>
          <a:bodyPr wrap="square" lIns="0" tIns="0" rIns="0" bIns="0" rtlCol="0" anchor="ctr"/>
          <a:lstStyle/>
          <a:p>
            <a:pPr marL="0" indent="0" algn="ctr">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marL="0" indent="0">
              <a:buNone/>
            </a:pPr>
            <a:r>
              <a:rPr lang="en-US" sz="1600" b="1" dirty="0">
                <a:solidFill>
                  <a:srgbClr val="1B2A55"/>
                </a:solidFill>
                <a:latin typeface="Calibri" pitchFamily="34" charset="0"/>
                <a:ea typeface="Calibri" pitchFamily="34" charset="-122"/>
                <a:cs typeface="Calibri" pitchFamily="34" charset="-120"/>
              </a:rPr>
              <a:t>Module 4 - Interface</a:t>
            </a:r>
            <a:endParaRPr lang="en-US" sz="1600" dirty="0"/>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pPr marL="0" indent="0">
              <a:buNone/>
            </a:pPr>
            <a:r>
              <a:rPr lang="en-US" sz="1300" dirty="0">
                <a:solidFill>
                  <a:srgbClr val="1F2430"/>
                </a:solidFill>
                <a:latin typeface="Calibri" pitchFamily="34" charset="0"/>
                <a:ea typeface="Calibri" pitchFamily="34" charset="-122"/>
                <a:cs typeface="Calibri" pitchFamily="34" charset="-120"/>
              </a:rPr>
              <a:t>A Streamlit front end to upload resumes and paste a job description, returning a ranked table of candidates with score, matched skills and missing skills.</a:t>
            </a:r>
            <a:endParaRPr lang="en-US" sz="13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sp>
      <p:sp>
        <p:nvSpPr>
          <p:cNvPr id="5" name="Text 3"/>
          <p:cNvSpPr txBox="1"/>
          <p:nvPr/>
        </p:nvSpPr>
        <p:spPr>
          <a:xfrm>
            <a:off x="86868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Language: Python 3.11</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NLP: spaCy (en_core_web_sm) for NER</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ML: scikit-learn (TfidfVectorizer, cosine_similarity)</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Data: Pandas, NumPy</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Front end: Streamlit</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IDE: VS Code / Jupyter Notebook</a:t>
            </a:r>
            <a:endParaRPr lang="en-US" sz="1350" dirty="0"/>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sp>
      <p:sp>
        <p:nvSpPr>
          <p:cNvPr id="8" name="Text 6"/>
          <p:cNvSpPr txBox="1"/>
          <p:nvPr/>
        </p:nvSpPr>
        <p:spPr>
          <a:xfrm>
            <a:off x="6537960" y="1691640"/>
            <a:ext cx="4709160" cy="320040"/>
          </a:xfrm>
          <a:prstGeom prst="rect">
            <a:avLst/>
          </a:prstGeom>
          <a:noFill/>
          <a:ln/>
        </p:spPr>
        <p:txBody>
          <a:bodyPr wrap="square" lIns="0" tIns="0" rIns="0" bIns="0" rtlCol="0" anchor="ctr"/>
          <a:lstStyle/>
          <a:p>
            <a:pPr marL="0" indent="0">
              <a:buNone/>
            </a:pPr>
            <a:r>
              <a:rPr lang="en-US" sz="1200" b="1" kern="0" spc="18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Processor: Intel i5 or above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RAM: 8 GB minimum</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GPU / Cloud: not required - CPU only pipeline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Sensors or devices: none</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Deployment: localhost (Streamlit), Render optional</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Version control: &lt; GitHub repository link &gt;</a:t>
            </a:r>
            <a:endParaRPr lang="en-US" sz="1350" dirty="0"/>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9</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Work Completed / Demo</a:t>
            </a:r>
            <a:endParaRPr lang="en-US" sz="3100" dirty="0"/>
          </a:p>
        </p:txBody>
      </p:sp>
      <p:sp>
        <p:nvSpPr>
          <p:cNvPr id="4" name="Shape 2"/>
          <p:cNvSpPr/>
          <p:nvPr/>
        </p:nvSpPr>
        <p:spPr>
          <a:xfrm>
            <a:off x="548640" y="1463040"/>
            <a:ext cx="5852160" cy="566928"/>
          </a:xfrm>
          <a:prstGeom prst="roundRect">
            <a:avLst>
              <a:gd name="adj" fmla="val 12903"/>
            </a:avLst>
          </a:prstGeom>
          <a:solidFill>
            <a:srgbClr val="F1F4F9"/>
          </a:solidFill>
          <a:ln w="12700">
            <a:solidFill>
              <a:srgbClr val="DDE3EC"/>
            </a:solidFill>
            <a:prstDash val="solid"/>
          </a:ln>
        </p:spPr>
      </p:sp>
      <p:sp>
        <p:nvSpPr>
          <p:cNvPr id="5" name="Shape 3"/>
          <p:cNvSpPr/>
          <p:nvPr/>
        </p:nvSpPr>
        <p:spPr>
          <a:xfrm>
            <a:off x="777240" y="1655064"/>
            <a:ext cx="182880" cy="182880"/>
          </a:xfrm>
          <a:prstGeom prst="ellipse">
            <a:avLst/>
          </a:prstGeom>
          <a:solidFill>
            <a:srgbClr val="1E7A46"/>
          </a:solidFill>
          <a:ln/>
        </p:spPr>
      </p:sp>
      <p:sp>
        <p:nvSpPr>
          <p:cNvPr id="6" name="Text 4"/>
          <p:cNvSpPr txBox="1"/>
          <p:nvPr/>
        </p:nvSpPr>
        <p:spPr>
          <a:xfrm>
            <a:off x="1097280" y="1463040"/>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Literature survey (10 papers)</a:t>
            </a:r>
            <a:endParaRPr lang="en-US" sz="1350" dirty="0"/>
          </a:p>
        </p:txBody>
      </p:sp>
      <p:sp>
        <p:nvSpPr>
          <p:cNvPr id="7" name="Text 5"/>
          <p:cNvSpPr txBox="1"/>
          <p:nvPr/>
        </p:nvSpPr>
        <p:spPr>
          <a:xfrm>
            <a:off x="4480560" y="1463040"/>
            <a:ext cx="1691640" cy="566928"/>
          </a:xfrm>
          <a:prstGeom prst="rect">
            <a:avLst/>
          </a:prstGeom>
          <a:noFill/>
          <a:ln/>
        </p:spPr>
        <p:txBody>
          <a:bodyPr wrap="square" lIns="0" tIns="0" rIns="0" bIns="0" rtlCol="0" anchor="ctr"/>
          <a:lstStyle/>
          <a:p>
            <a:pPr marL="0" indent="0" algn="r">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8" name="Shape 6"/>
          <p:cNvSpPr/>
          <p:nvPr/>
        </p:nvSpPr>
        <p:spPr>
          <a:xfrm>
            <a:off x="548640" y="2176272"/>
            <a:ext cx="5852160" cy="566928"/>
          </a:xfrm>
          <a:prstGeom prst="roundRect">
            <a:avLst>
              <a:gd name="adj" fmla="val 12903"/>
            </a:avLst>
          </a:prstGeom>
          <a:solidFill>
            <a:srgbClr val="F1F4F9"/>
          </a:solidFill>
          <a:ln w="12700">
            <a:solidFill>
              <a:srgbClr val="DDE3EC"/>
            </a:solidFill>
            <a:prstDash val="solid"/>
          </a:ln>
        </p:spPr>
      </p:sp>
      <p:sp>
        <p:nvSpPr>
          <p:cNvPr id="9" name="Shape 7"/>
          <p:cNvSpPr/>
          <p:nvPr/>
        </p:nvSpPr>
        <p:spPr>
          <a:xfrm>
            <a:off x="777240" y="2368296"/>
            <a:ext cx="182880" cy="182880"/>
          </a:xfrm>
          <a:prstGeom prst="ellipse">
            <a:avLst/>
          </a:prstGeom>
          <a:solidFill>
            <a:srgbClr val="1E7A46"/>
          </a:solidFill>
          <a:ln/>
        </p:spPr>
      </p:sp>
      <p:sp>
        <p:nvSpPr>
          <p:cNvPr id="10" name="Text 8"/>
          <p:cNvSpPr txBox="1"/>
          <p:nvPr/>
        </p:nvSpPr>
        <p:spPr>
          <a:xfrm>
            <a:off x="1097280" y="2176272"/>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Dataset collection - Kaggle Resume Dataset</a:t>
            </a:r>
            <a:endParaRPr lang="en-US" sz="1350" dirty="0"/>
          </a:p>
        </p:txBody>
      </p:sp>
      <p:sp>
        <p:nvSpPr>
          <p:cNvPr id="11" name="Text 9"/>
          <p:cNvSpPr txBox="1"/>
          <p:nvPr/>
        </p:nvSpPr>
        <p:spPr>
          <a:xfrm>
            <a:off x="4480560" y="2176272"/>
            <a:ext cx="1691640" cy="566928"/>
          </a:xfrm>
          <a:prstGeom prst="rect">
            <a:avLst/>
          </a:prstGeom>
          <a:noFill/>
          <a:ln/>
        </p:spPr>
        <p:txBody>
          <a:bodyPr wrap="square" lIns="0" tIns="0" rIns="0" bIns="0" rtlCol="0" anchor="ctr"/>
          <a:lstStyle/>
          <a:p>
            <a:pPr marL="0" indent="0" algn="r">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12" name="Shape 10"/>
          <p:cNvSpPr/>
          <p:nvPr/>
        </p:nvSpPr>
        <p:spPr>
          <a:xfrm>
            <a:off x="548640" y="2889504"/>
            <a:ext cx="5852160" cy="566928"/>
          </a:xfrm>
          <a:prstGeom prst="roundRect">
            <a:avLst>
              <a:gd name="adj" fmla="val 12903"/>
            </a:avLst>
          </a:prstGeom>
          <a:solidFill>
            <a:srgbClr val="F1F4F9"/>
          </a:solidFill>
          <a:ln w="12700">
            <a:solidFill>
              <a:srgbClr val="DDE3EC"/>
            </a:solidFill>
            <a:prstDash val="solid"/>
          </a:ln>
        </p:spPr>
      </p:sp>
      <p:sp>
        <p:nvSpPr>
          <p:cNvPr id="14" name="Text 12"/>
          <p:cNvSpPr txBox="1"/>
          <p:nvPr/>
        </p:nvSpPr>
        <p:spPr>
          <a:xfrm>
            <a:off x="1097280" y="2889504"/>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Text cleaning &amp; pre-processing pipeline</a:t>
            </a:r>
            <a:endParaRPr lang="en-US" sz="1350" dirty="0"/>
          </a:p>
        </p:txBody>
      </p:sp>
      <p:sp>
        <p:nvSpPr>
          <p:cNvPr id="15" name="Text 13"/>
          <p:cNvSpPr txBox="1"/>
          <p:nvPr/>
        </p:nvSpPr>
        <p:spPr>
          <a:xfrm>
            <a:off x="4480560" y="2889504"/>
            <a:ext cx="1691640" cy="566928"/>
          </a:xfrm>
          <a:prstGeom prst="rect">
            <a:avLst/>
          </a:prstGeom>
          <a:noFill/>
          <a:ln/>
        </p:spPr>
        <p:txBody>
          <a:bodyPr wrap="square" lIns="0" tIns="0" rIns="0" bIns="0" rtlCol="0" anchor="ctr"/>
          <a:lstStyle/>
          <a:p>
            <a:pPr algn="r"/>
            <a:r>
              <a:rPr lang="en-US" sz="1200" b="1">
                <a:solidFill>
                  <a:srgbClr val="1E7A46"/>
                </a:solidFill>
                <a:latin typeface="Calibri" pitchFamily="34" charset="0"/>
                <a:ea typeface="Calibri" pitchFamily="34" charset="-122"/>
                <a:cs typeface="Calibri" pitchFamily="34" charset="-120"/>
              </a:rPr>
              <a:t>Completed</a:t>
            </a:r>
            <a:endParaRPr lang="en-US" sz="1200" dirty="0"/>
          </a:p>
        </p:txBody>
      </p:sp>
      <p:sp>
        <p:nvSpPr>
          <p:cNvPr id="16" name="Shape 14"/>
          <p:cNvSpPr/>
          <p:nvPr/>
        </p:nvSpPr>
        <p:spPr>
          <a:xfrm>
            <a:off x="548640" y="3602736"/>
            <a:ext cx="5852160" cy="566928"/>
          </a:xfrm>
          <a:prstGeom prst="roundRect">
            <a:avLst>
              <a:gd name="adj" fmla="val 12903"/>
            </a:avLst>
          </a:prstGeom>
          <a:solidFill>
            <a:srgbClr val="F1F4F9"/>
          </a:solidFill>
          <a:ln w="12700">
            <a:solidFill>
              <a:srgbClr val="DDE3EC"/>
            </a:solidFill>
            <a:prstDash val="solid"/>
          </a:ln>
        </p:spPr>
      </p:sp>
      <p:sp>
        <p:nvSpPr>
          <p:cNvPr id="18" name="Text 16"/>
          <p:cNvSpPr txBox="1"/>
          <p:nvPr/>
        </p:nvSpPr>
        <p:spPr>
          <a:xfrm>
            <a:off x="1097280" y="3602736"/>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TF-IDF + Cosine Similarity scoring</a:t>
            </a:r>
            <a:endParaRPr lang="en-US" sz="1350" dirty="0"/>
          </a:p>
        </p:txBody>
      </p:sp>
      <p:sp>
        <p:nvSpPr>
          <p:cNvPr id="19" name="Text 17"/>
          <p:cNvSpPr txBox="1"/>
          <p:nvPr/>
        </p:nvSpPr>
        <p:spPr>
          <a:xfrm>
            <a:off x="4480560" y="3602736"/>
            <a:ext cx="1691640" cy="566928"/>
          </a:xfrm>
          <a:prstGeom prst="rect">
            <a:avLst/>
          </a:prstGeom>
          <a:noFill/>
          <a:ln/>
        </p:spPr>
        <p:txBody>
          <a:bodyPr wrap="square" lIns="0" tIns="0" rIns="0" bIns="0" rtlCol="0" anchor="ctr"/>
          <a:lstStyle/>
          <a:p>
            <a:pPr algn="r"/>
            <a:r>
              <a:rPr lang="en-US" sz="1200" b="1" dirty="0">
                <a:solidFill>
                  <a:srgbClr val="1E7A46"/>
                </a:solidFill>
                <a:latin typeface="Calibri" pitchFamily="34" charset="0"/>
                <a:ea typeface="Calibri" pitchFamily="34" charset="-122"/>
                <a:cs typeface="Calibri" pitchFamily="34" charset="-120"/>
              </a:rPr>
              <a:t>Completed</a:t>
            </a:r>
            <a:endParaRPr lang="en-US" sz="1200" dirty="0"/>
          </a:p>
          <a:p>
            <a:pPr marL="0" indent="0" algn="r">
              <a:buNone/>
            </a:pPr>
            <a:endParaRPr lang="en-US" sz="1200" dirty="0"/>
          </a:p>
        </p:txBody>
      </p:sp>
      <p:sp>
        <p:nvSpPr>
          <p:cNvPr id="20" name="Shape 18"/>
          <p:cNvSpPr/>
          <p:nvPr/>
        </p:nvSpPr>
        <p:spPr>
          <a:xfrm>
            <a:off x="548640" y="4315968"/>
            <a:ext cx="5852160" cy="566928"/>
          </a:xfrm>
          <a:prstGeom prst="roundRect">
            <a:avLst>
              <a:gd name="adj" fmla="val 12903"/>
            </a:avLst>
          </a:prstGeom>
          <a:solidFill>
            <a:srgbClr val="F1F4F9"/>
          </a:solidFill>
          <a:ln w="12700">
            <a:solidFill>
              <a:srgbClr val="DDE3EC"/>
            </a:solidFill>
            <a:prstDash val="solid"/>
          </a:ln>
        </p:spPr>
      </p:sp>
      <p:sp>
        <p:nvSpPr>
          <p:cNvPr id="22" name="Text 20"/>
          <p:cNvSpPr txBox="1"/>
          <p:nvPr/>
        </p:nvSpPr>
        <p:spPr>
          <a:xfrm>
            <a:off x="1097280" y="4315968"/>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spaCy NER skill extraction</a:t>
            </a:r>
            <a:endParaRPr lang="en-US" sz="1350" dirty="0"/>
          </a:p>
        </p:txBody>
      </p:sp>
      <p:sp>
        <p:nvSpPr>
          <p:cNvPr id="23" name="Text 21"/>
          <p:cNvSpPr txBox="1"/>
          <p:nvPr/>
        </p:nvSpPr>
        <p:spPr>
          <a:xfrm>
            <a:off x="4480560" y="4315968"/>
            <a:ext cx="1691640" cy="566928"/>
          </a:xfrm>
          <a:prstGeom prst="rect">
            <a:avLst/>
          </a:prstGeom>
          <a:noFill/>
          <a:ln/>
        </p:spPr>
        <p:txBody>
          <a:bodyPr wrap="square" lIns="0" tIns="0" rIns="0" bIns="0" rtlCol="0" anchor="ctr"/>
          <a:lstStyle/>
          <a:p>
            <a:pPr algn="r"/>
            <a:r>
              <a:rPr lang="en-US" sz="1200" b="1" dirty="0">
                <a:solidFill>
                  <a:srgbClr val="1E7A46"/>
                </a:solidFill>
                <a:latin typeface="Calibri" pitchFamily="34" charset="0"/>
                <a:ea typeface="Calibri" pitchFamily="34" charset="-122"/>
                <a:cs typeface="Calibri" pitchFamily="34" charset="-120"/>
              </a:rPr>
              <a:t>Completed</a:t>
            </a:r>
            <a:endParaRPr lang="en-US" sz="1200" dirty="0"/>
          </a:p>
          <a:p>
            <a:pPr marL="0" indent="0" algn="r">
              <a:buNone/>
            </a:pPr>
            <a:endParaRPr lang="en-US" sz="1200" dirty="0"/>
          </a:p>
        </p:txBody>
      </p:sp>
      <p:sp>
        <p:nvSpPr>
          <p:cNvPr id="24" name="Shape 22"/>
          <p:cNvSpPr/>
          <p:nvPr/>
        </p:nvSpPr>
        <p:spPr>
          <a:xfrm>
            <a:off x="548640" y="5029200"/>
            <a:ext cx="5852160" cy="566928"/>
          </a:xfrm>
          <a:prstGeom prst="roundRect">
            <a:avLst>
              <a:gd name="adj" fmla="val 12903"/>
            </a:avLst>
          </a:prstGeom>
          <a:solidFill>
            <a:srgbClr val="F1F4F9"/>
          </a:solidFill>
          <a:ln w="12700">
            <a:solidFill>
              <a:srgbClr val="DDE3EC"/>
            </a:solidFill>
            <a:prstDash val="solid"/>
          </a:ln>
        </p:spPr>
      </p:sp>
      <p:sp>
        <p:nvSpPr>
          <p:cNvPr id="26" name="Text 24"/>
          <p:cNvSpPr txBox="1"/>
          <p:nvPr/>
        </p:nvSpPr>
        <p:spPr>
          <a:xfrm>
            <a:off x="1097280" y="5029200"/>
            <a:ext cx="3291840" cy="566928"/>
          </a:xfrm>
          <a:prstGeom prst="rect">
            <a:avLst/>
          </a:prstGeom>
          <a:noFill/>
          <a:ln/>
        </p:spPr>
        <p:txBody>
          <a:bodyPr wrap="square" lIns="0" tIns="0" rIns="0" bIns="0" rtlCol="0" anchor="ctr"/>
          <a:lstStyle/>
          <a:p>
            <a:pPr marL="0" indent="0">
              <a:buNone/>
            </a:pPr>
            <a:r>
              <a:rPr lang="en-US" sz="1350" dirty="0">
                <a:solidFill>
                  <a:srgbClr val="1F2430"/>
                </a:solidFill>
                <a:latin typeface="Calibri" pitchFamily="34" charset="0"/>
                <a:ea typeface="Calibri" pitchFamily="34" charset="-122"/>
                <a:cs typeface="Calibri" pitchFamily="34" charset="-120"/>
              </a:rPr>
              <a:t>Streamlit interface &amp; evaluation</a:t>
            </a:r>
            <a:endParaRPr lang="en-US" sz="1350" dirty="0"/>
          </a:p>
        </p:txBody>
      </p:sp>
      <p:sp>
        <p:nvSpPr>
          <p:cNvPr id="27" name="Text 25"/>
          <p:cNvSpPr txBox="1"/>
          <p:nvPr/>
        </p:nvSpPr>
        <p:spPr>
          <a:xfrm>
            <a:off x="4480560" y="5029200"/>
            <a:ext cx="1691640" cy="566928"/>
          </a:xfrm>
          <a:prstGeom prst="rect">
            <a:avLst/>
          </a:prstGeom>
          <a:noFill/>
          <a:ln/>
        </p:spPr>
        <p:txBody>
          <a:bodyPr wrap="square" lIns="0" tIns="0" rIns="0" bIns="0" rtlCol="0" anchor="ctr"/>
          <a:lstStyle/>
          <a:p>
            <a:pPr algn="r"/>
            <a:r>
              <a:rPr lang="en-US" sz="1200" b="1" dirty="0">
                <a:solidFill>
                  <a:srgbClr val="1E7A46"/>
                </a:solidFill>
                <a:latin typeface="Calibri" pitchFamily="34" charset="0"/>
                <a:ea typeface="Calibri" pitchFamily="34" charset="-122"/>
                <a:cs typeface="Calibri" pitchFamily="34" charset="-120"/>
              </a:rPr>
              <a:t>Completed</a:t>
            </a:r>
            <a:endParaRPr lang="en-US" sz="1200" dirty="0"/>
          </a:p>
          <a:p>
            <a:pPr marL="0" indent="0" algn="r">
              <a:buNone/>
            </a:pPr>
            <a:endParaRPr lang="en-US" sz="1200" dirty="0"/>
          </a:p>
        </p:txBody>
      </p:sp>
      <p:sp>
        <p:nvSpPr>
          <p:cNvPr id="30" name="Shape 28"/>
          <p:cNvSpPr/>
          <p:nvPr/>
        </p:nvSpPr>
        <p:spPr>
          <a:xfrm>
            <a:off x="6675120" y="4892040"/>
            <a:ext cx="4937760" cy="1005840"/>
          </a:xfrm>
          <a:prstGeom prst="roundRect">
            <a:avLst>
              <a:gd name="adj" fmla="val 7273"/>
            </a:avLst>
          </a:prstGeom>
          <a:solidFill>
            <a:srgbClr val="FDF6E6"/>
          </a:solidFill>
          <a:ln w="12700">
            <a:solidFill>
              <a:srgbClr val="DDE3EC"/>
            </a:solidFill>
            <a:prstDash val="solid"/>
          </a:ln>
        </p:spPr>
      </p:sp>
      <p:sp>
        <p:nvSpPr>
          <p:cNvPr id="31" name="Text 29"/>
          <p:cNvSpPr txBox="1"/>
          <p:nvPr/>
        </p:nvSpPr>
        <p:spPr>
          <a:xfrm>
            <a:off x="6903720" y="5029200"/>
            <a:ext cx="4480560" cy="731520"/>
          </a:xfrm>
          <a:prstGeom prst="rect">
            <a:avLst/>
          </a:prstGeom>
          <a:noFill/>
          <a:ln/>
        </p:spPr>
        <p:txBody>
          <a:bodyPr wrap="square" lIns="0" tIns="0" rIns="0" bIns="0" rtlCol="0" anchor="ctr"/>
          <a:lstStyle/>
          <a:p>
            <a:pPr marL="0" indent="0">
              <a:buNone/>
            </a:pPr>
            <a:r>
              <a:rPr lang="en-US" sz="1250" dirty="0">
                <a:solidFill>
                  <a:srgbClr val="1F2430"/>
                </a:solidFill>
                <a:latin typeface="Calibri" pitchFamily="34" charset="0"/>
                <a:ea typeface="Calibri" pitchFamily="34" charset="-122"/>
                <a:cs typeface="Calibri" pitchFamily="34" charset="-120"/>
              </a:rPr>
              <a:t>Insert a screenshot of your ranked-output table or notebook here before the review. One working output beats three slides of claims.</a:t>
            </a:r>
            <a:endParaRPr lang="en-US" sz="1250" dirty="0"/>
          </a:p>
        </p:txBody>
      </p:sp>
      <p:sp>
        <p:nvSpPr>
          <p:cNvPr id="32" name="Text 30"/>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pic>
        <p:nvPicPr>
          <p:cNvPr id="35" name="Picture 34">
            <a:extLst>
              <a:ext uri="{FF2B5EF4-FFF2-40B4-BE49-F238E27FC236}">
                <a16:creationId xmlns:a16="http://schemas.microsoft.com/office/drawing/2014/main" id="{C879373F-C693-4D34-AEB5-4CC0DD756402}"/>
              </a:ext>
            </a:extLst>
          </p:cNvPr>
          <p:cNvPicPr>
            <a:picLocks noChangeAspect="1"/>
          </p:cNvPicPr>
          <p:nvPr/>
        </p:nvPicPr>
        <p:blipFill>
          <a:blip r:embed="rId3"/>
          <a:stretch>
            <a:fillRect/>
          </a:stretch>
        </p:blipFill>
        <p:spPr>
          <a:xfrm>
            <a:off x="6629400" y="1569339"/>
            <a:ext cx="5114925" cy="2901314"/>
          </a:xfrm>
          <a:prstGeom prst="rect">
            <a:avLst/>
          </a:prstGeom>
        </p:spPr>
      </p:pic>
      <p:sp>
        <p:nvSpPr>
          <p:cNvPr id="29" name="Shape 7">
            <a:extLst>
              <a:ext uri="{FF2B5EF4-FFF2-40B4-BE49-F238E27FC236}">
                <a16:creationId xmlns:a16="http://schemas.microsoft.com/office/drawing/2014/main" id="{57D3A01A-A7A8-5282-B961-7D6C497F2C95}"/>
              </a:ext>
            </a:extLst>
          </p:cNvPr>
          <p:cNvSpPr/>
          <p:nvPr/>
        </p:nvSpPr>
        <p:spPr>
          <a:xfrm>
            <a:off x="777240" y="3061654"/>
            <a:ext cx="182880" cy="182880"/>
          </a:xfrm>
          <a:prstGeom prst="ellipse">
            <a:avLst/>
          </a:prstGeom>
          <a:solidFill>
            <a:srgbClr val="1E7A46"/>
          </a:solidFill>
          <a:ln/>
        </p:spPr>
      </p:sp>
      <p:sp>
        <p:nvSpPr>
          <p:cNvPr id="36" name="Shape 7">
            <a:extLst>
              <a:ext uri="{FF2B5EF4-FFF2-40B4-BE49-F238E27FC236}">
                <a16:creationId xmlns:a16="http://schemas.microsoft.com/office/drawing/2014/main" id="{0ECA5B65-DE7B-6575-B742-EB272AFA4275}"/>
              </a:ext>
            </a:extLst>
          </p:cNvPr>
          <p:cNvSpPr/>
          <p:nvPr/>
        </p:nvSpPr>
        <p:spPr>
          <a:xfrm>
            <a:off x="777240" y="3807481"/>
            <a:ext cx="182880" cy="182880"/>
          </a:xfrm>
          <a:prstGeom prst="ellipse">
            <a:avLst/>
          </a:prstGeom>
          <a:solidFill>
            <a:srgbClr val="1E7A46"/>
          </a:solidFill>
          <a:ln/>
        </p:spPr>
      </p:sp>
      <p:sp>
        <p:nvSpPr>
          <p:cNvPr id="38" name="Shape 7">
            <a:extLst>
              <a:ext uri="{FF2B5EF4-FFF2-40B4-BE49-F238E27FC236}">
                <a16:creationId xmlns:a16="http://schemas.microsoft.com/office/drawing/2014/main" id="{BE5C6143-9BD8-E15C-BAA3-0C57BAD5CEE2}"/>
              </a:ext>
            </a:extLst>
          </p:cNvPr>
          <p:cNvSpPr/>
          <p:nvPr/>
        </p:nvSpPr>
        <p:spPr>
          <a:xfrm>
            <a:off x="777240" y="5256618"/>
            <a:ext cx="182880" cy="182880"/>
          </a:xfrm>
          <a:prstGeom prst="ellipse">
            <a:avLst/>
          </a:prstGeom>
          <a:solidFill>
            <a:srgbClr val="1E7A46"/>
          </a:solidFill>
          <a:ln/>
        </p:spPr>
      </p:sp>
      <p:sp>
        <p:nvSpPr>
          <p:cNvPr id="40" name="Shape 7">
            <a:extLst>
              <a:ext uri="{FF2B5EF4-FFF2-40B4-BE49-F238E27FC236}">
                <a16:creationId xmlns:a16="http://schemas.microsoft.com/office/drawing/2014/main" id="{F76D6E83-DFA6-C519-77E6-F487B73AC0E4}"/>
              </a:ext>
            </a:extLst>
          </p:cNvPr>
          <p:cNvSpPr/>
          <p:nvPr/>
        </p:nvSpPr>
        <p:spPr>
          <a:xfrm>
            <a:off x="780350" y="4472443"/>
            <a:ext cx="182880" cy="182880"/>
          </a:xfrm>
          <a:prstGeom prst="ellipse">
            <a:avLst/>
          </a:prstGeom>
          <a:solidFill>
            <a:srgbClr val="1E7A46"/>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10</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sp>
      <p:sp>
        <p:nvSpPr>
          <p:cNvPr id="5" name="Text 3"/>
          <p:cNvSpPr txBox="1"/>
          <p:nvPr/>
        </p:nvSpPr>
        <p:spPr>
          <a:xfrm>
            <a:off x="82296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822960" y="2057400"/>
            <a:ext cx="2971800" cy="1371600"/>
          </a:xfrm>
          <a:prstGeom prst="rect">
            <a:avLst/>
          </a:prstGeom>
          <a:noFill/>
          <a:ln/>
        </p:spPr>
        <p:txBody>
          <a:bodyPr wrap="square" lIns="0" tIns="0" rIns="0" bIns="0" rtlCol="0" anchor="ctr"/>
          <a:lstStyle/>
          <a:p>
            <a:pPr marL="0" indent="0">
              <a:buNone/>
            </a:pPr>
            <a:r>
              <a:rPr lang="en-US" sz="1600" b="1" dirty="0">
                <a:solidFill>
                  <a:srgbClr val="1B2A55"/>
                </a:solidFill>
                <a:latin typeface="Cambria" pitchFamily="34" charset="0"/>
                <a:ea typeface="Cambria" pitchFamily="34" charset="-122"/>
                <a:cs typeface="Cambria" pitchFamily="34" charset="-120"/>
              </a:rPr>
              <a:t>A working system that ranks resumes against a job description and lists each candidate's matched and missing skills.</a:t>
            </a:r>
            <a:endParaRPr lang="en-US" sz="1600" dirty="0"/>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sp>
      <p:sp>
        <p:nvSpPr>
          <p:cNvPr id="8" name="Text 6"/>
          <p:cNvSpPr txBox="1"/>
          <p:nvPr/>
        </p:nvSpPr>
        <p:spPr>
          <a:xfrm>
            <a:off x="4572000" y="1691640"/>
            <a:ext cx="2971800" cy="274320"/>
          </a:xfrm>
          <a:prstGeom prst="rect">
            <a:avLst/>
          </a:prstGeom>
          <a:noFill/>
          <a:ln/>
        </p:spPr>
        <p:txBody>
          <a:bodyPr wrap="square" lIns="0" tIns="0" rIns="0" bIns="0" rtlCol="0" anchor="ctr"/>
          <a:lstStyle/>
          <a:p>
            <a:pPr marL="0" indent="0">
              <a:buNone/>
            </a:pPr>
            <a:r>
              <a:rPr lang="en-US" sz="1050" b="1" kern="0" spc="150" dirty="0">
                <a:solidFill>
                  <a:srgbClr val="C8A02C"/>
                </a:solidFill>
                <a:latin typeface="Calibri" pitchFamily="34" charset="0"/>
                <a:ea typeface="Calibri" pitchFamily="34" charset="-122"/>
                <a:cs typeface="Calibri"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Top-5 ranking agreeing with a manual shortlist, and scoring a batch of 50 resumes in under 2 seconds on a CPU.</a:t>
            </a:r>
            <a:endParaRPr lang="en-US" sz="1600" dirty="0"/>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sp>
      <p:sp>
        <p:nvSpPr>
          <p:cNvPr id="11" name="Text 9"/>
          <p:cNvSpPr txBox="1"/>
          <p:nvPr/>
        </p:nvSpPr>
        <p:spPr>
          <a:xfrm>
            <a:off x="8321040" y="1691640"/>
            <a:ext cx="2971800" cy="274320"/>
          </a:xfrm>
          <a:prstGeom prst="rect">
            <a:avLst/>
          </a:prstGeom>
          <a:noFill/>
          <a:ln/>
        </p:spPr>
        <p:txBody>
          <a:bodyPr wrap="square" lIns="0" tIns="0" rIns="0" bIns="0" rtlCol="0" anchor="ctr"/>
          <a:lstStyle/>
          <a:p>
            <a:pPr marL="0" indent="0">
              <a:buNone/>
            </a:pPr>
            <a:r>
              <a:rPr lang="en-US" sz="1050" b="1" kern="0" spc="150" dirty="0">
                <a:solidFill>
                  <a:srgbClr val="A4161A"/>
                </a:solidFill>
                <a:latin typeface="Calibri" pitchFamily="34" charset="0"/>
                <a:ea typeface="Calibri" pitchFamily="34" charset="-122"/>
                <a:cs typeface="Calibri" pitchFamily="34" charset="-120"/>
              </a:rPr>
              <a:t>BEYOND THE LAB</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pPr marL="0" indent="0">
              <a:buNone/>
            </a:pPr>
            <a:r>
              <a:rPr lang="en-US" sz="1600" b="1" dirty="0">
                <a:solidFill>
                  <a:srgbClr val="1B2A55"/>
                </a:solidFill>
                <a:latin typeface="Cambria" pitchFamily="34" charset="0"/>
                <a:ea typeface="Cambria" pitchFamily="34" charset="-122"/>
                <a:cs typeface="Cambria" pitchFamily="34" charset="-120"/>
              </a:rPr>
              <a:t>Usable by campus placement cells and small recruitment teams for first-round shortlisting support.</a:t>
            </a:r>
            <a:endParaRPr lang="en-US" sz="1600" dirty="0"/>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sp>
      <p:sp>
        <p:nvSpPr>
          <p:cNvPr id="14" name="Text 12"/>
          <p:cNvSpPr txBox="1"/>
          <p:nvPr/>
        </p:nvSpPr>
        <p:spPr>
          <a:xfrm>
            <a:off x="868680" y="4160520"/>
            <a:ext cx="10424160" cy="274320"/>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pPr marL="0" indent="0">
              <a:buNone/>
            </a:pPr>
            <a:r>
              <a:rPr lang="en-US" sz="1450" dirty="0">
                <a:solidFill>
                  <a:srgbClr val="1F2430"/>
                </a:solidFill>
                <a:latin typeface="Calibri" pitchFamily="34" charset="0"/>
                <a:ea typeface="Calibri" pitchFamily="34" charset="-122"/>
                <a:cs typeface="Calibri" pitchFamily="34" charset="-120"/>
              </a:rPr>
              <a:t>Manual resume screening is slow and inconsistent because resumes are unstructured text. The surveyed literature ranks candidates but never reports which required skills are missing, and the systems that capture semantics are too heavy for ordinary hardware. Our system closes that gap with a CPU-only spaCy NER + TF-IDF + Cosine Similarity pipeline that returns both a match score and an explicit skill gap. Future scope: transformer embeddings for semantic matching, deliberately left out of this scope.</a:t>
            </a:r>
            <a:endParaRPr lang="en-US" sz="1450" dirty="0"/>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marL="0" indent="0">
              <a:buNone/>
            </a:pPr>
            <a:r>
              <a:rPr lang="en-US" sz="1050" b="1" kern="0" spc="20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marL="0" indent="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IEEE style, numbered in the order they are cited in the slides. All eight references below were consulted during the survey.</a:t>
            </a:r>
            <a:endParaRPr lang="en-US" sz="1050" dirty="0"/>
          </a:p>
        </p:txBody>
      </p:sp>
      <p:sp>
        <p:nvSpPr>
          <p:cNvPr id="5" name="Shape 3"/>
          <p:cNvSpPr/>
          <p:nvPr/>
        </p:nvSpPr>
        <p:spPr>
          <a:xfrm>
            <a:off x="548640" y="1572768"/>
            <a:ext cx="11064240" cy="3657600"/>
          </a:xfrm>
          <a:prstGeom prst="roundRect">
            <a:avLst>
              <a:gd name="adj" fmla="val 2000"/>
            </a:avLst>
          </a:prstGeom>
          <a:solidFill>
            <a:srgbClr val="F1F4F9"/>
          </a:solidFill>
          <a:ln w="12700">
            <a:solidFill>
              <a:srgbClr val="DDE3EC"/>
            </a:solidFill>
            <a:prstDash val="solid"/>
          </a:ln>
        </p:spPr>
      </p:sp>
      <p:sp>
        <p:nvSpPr>
          <p:cNvPr id="6" name="Text 4"/>
          <p:cNvSpPr txBox="1"/>
          <p:nvPr/>
        </p:nvSpPr>
        <p:spPr>
          <a:xfrm>
            <a:off x="868680" y="1783080"/>
            <a:ext cx="10424160" cy="3246120"/>
          </a:xfrm>
          <a:prstGeom prst="rect">
            <a:avLst/>
          </a:prstGeom>
          <a:noFill/>
          <a:ln/>
        </p:spPr>
        <p:txBody>
          <a:bodyPr wrap="square" lIns="0" tIns="0" rIns="0" bIns="0" rtlCol="0" anchor="ctr"/>
          <a:lstStyle/>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[1]  K. Tejaswini, V. Umadevi, S. M. Kadiwal and S. Revanna, "Design and development of machine learning based resume ranking system," Global Transitions Proceedings, vol. 3, no. 2, pp. 371-375, 2022.</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[2]  R. T. Fareed, S. Kaganurmath and V. Rajath, "Resume classification and ranking using KNN and cosine similarity," International Journal of Engineering Research &amp; Technology (IJERT), vol. 10, no. 8, 2021.</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[3]  B. Kinge, S. Mandhare, P. Chavan and S. M. Chaware, "Resume screening using machine learning and NLP: a proposed system," IJSRCSEIT, vol. 8, no. 2, pp. 253-258, 2022.</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[4]  J. Schneider et al., "CareerBERT: Matching resumes to ESCO jobs in a shared embedding space for generic job recommendations," arXiv preprint arXiv:2503.02056, 2025.</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[5]  H. Sajid et al., "Resume parsing framework for e-recruitment," in Proc. 16th Int. Conf. on Ubiquitous Information Management and Communication (IMCOM), Seoul, Korea, 2022, pp. 1-8.</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[6]  A. Gugnani, V. K. R. Kasireddy and K. Ponnalagu, "Generating unified candidate skill graph for career path recommendation," in Proc. IEEE Int. Conf. on Data Mining Workshops (ICDMW), 2018, pp. 328-333.</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[7]  S. T. Al-Otaibi and M. Ykhlef, "A survey of job recommender systems," International Journal of Physical Sciences, vol. 7, no. 29, pp. 5127-5142, 2012.</a:t>
            </a:r>
            <a:endParaRPr lang="en-US" sz="1300" dirty="0"/>
          </a:p>
          <a:p>
            <a:pPr marL="0" indent="0">
              <a:spcAft>
                <a:spcPts val="1200"/>
              </a:spcAft>
              <a:buNone/>
            </a:pPr>
            <a:r>
              <a:rPr lang="en-US" sz="1050" dirty="0">
                <a:solidFill>
                  <a:srgbClr val="1F2430"/>
                </a:solidFill>
                <a:latin typeface="Calibri" pitchFamily="34" charset="0"/>
                <a:ea typeface="Calibri" pitchFamily="34" charset="-122"/>
                <a:cs typeface="Calibri" pitchFamily="34" charset="-120"/>
              </a:rPr>
              <a:t>[8]  UpdatedResumeDataSet, "Resume Dataset," Kaggle, 2020. [Online]. Available: https://www.kaggle.com/datasets/gauravduttakiit/resume-dataset  [Accessed: DD-MM-YYYY].</a:t>
            </a:r>
            <a:endParaRPr lang="en-US" sz="1300" dirty="0"/>
          </a:p>
        </p:txBody>
      </p:sp>
      <p:sp>
        <p:nvSpPr>
          <p:cNvPr id="7" name="Text 5"/>
          <p:cNvSpPr txBox="1"/>
          <p:nvPr/>
        </p:nvSpPr>
        <p:spPr>
          <a:xfrm>
            <a:off x="548640" y="5440680"/>
            <a:ext cx="11064240" cy="365760"/>
          </a:xfrm>
          <a:prstGeom prst="rect">
            <a:avLst/>
          </a:prstGeom>
          <a:noFill/>
          <a:ln/>
        </p:spPr>
        <p:txBody>
          <a:bodyPr wrap="square" lIns="0" tIns="0" rIns="0" bIns="0" rtlCol="0" anchor="ctr"/>
          <a:lstStyle/>
          <a:p>
            <a:pPr marL="0" indent="0">
              <a:buNone/>
            </a:pPr>
            <a:r>
              <a:rPr lang="en-US" sz="1250" b="1" i="1" dirty="0">
                <a:solidFill>
                  <a:srgbClr val="A4161A"/>
                </a:solidFill>
                <a:latin typeface="Calibri" pitchFamily="34" charset="0"/>
                <a:ea typeface="Calibri" pitchFamily="34" charset="-122"/>
                <a:cs typeface="Calibri" pitchFamily="34" charset="-120"/>
              </a:rPr>
              <a:t>References [1]-[4] are the papers shown in the literature survey table; [5]-[8] are the remaining surveyed sources and the dataset.</a:t>
            </a:r>
            <a:endParaRPr lang="en-US" sz="125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marL="0" indent="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a:effectLst/>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822960" y="3154680"/>
            <a:ext cx="10515600" cy="457200"/>
          </a:xfrm>
          <a:prstGeom prst="rect">
            <a:avLst/>
          </a:prstGeom>
          <a:noFill/>
          <a:ln/>
        </p:spPr>
        <p:txBody>
          <a:bodyPr wrap="square" lIns="0" tIns="0" rIns="0" bIns="0" rtlCol="0" anchor="ctr"/>
          <a:lstStyle/>
          <a:p>
            <a:pPr marL="0" indent="0">
              <a:buNone/>
            </a:pPr>
            <a:r>
              <a:rPr lang="en-US" sz="2000" dirty="0">
                <a:solidFill>
                  <a:srgbClr val="C8A02C"/>
                </a:solidFill>
                <a:latin typeface="Calibri" pitchFamily="34" charset="0"/>
                <a:ea typeface="Calibri" pitchFamily="34" charset="-122"/>
                <a:cs typeface="Calibri" pitchFamily="34" charset="-120"/>
              </a:rPr>
              <a:t>Questions &amp; Suggestions</a:t>
            </a:r>
            <a:endParaRPr lang="en-US" sz="2000" dirty="0"/>
          </a:p>
        </p:txBody>
      </p:sp>
      <p:sp>
        <p:nvSpPr>
          <p:cNvPr id="4" name="Shape 2"/>
          <p:cNvSpPr/>
          <p:nvPr/>
        </p:nvSpPr>
        <p:spPr>
          <a:xfrm>
            <a:off x="822960" y="3977640"/>
            <a:ext cx="2926080" cy="0"/>
          </a:xfrm>
          <a:prstGeom prst="line">
            <a:avLst/>
          </a:prstGeom>
          <a:noFill/>
          <a:ln w="25400">
            <a:solidFill>
              <a:srgbClr val="2E3F6E"/>
            </a:solidFill>
            <a:prstDash val="solid"/>
          </a:ln>
        </p:spPr>
      </p:sp>
      <p:sp>
        <p:nvSpPr>
          <p:cNvPr id="5" name="Text 3"/>
          <p:cNvSpPr txBox="1"/>
          <p:nvPr/>
        </p:nvSpPr>
        <p:spPr>
          <a:xfrm>
            <a:off x="822960" y="4251960"/>
            <a:ext cx="10515600" cy="365760"/>
          </a:xfrm>
          <a:prstGeom prst="rect">
            <a:avLst/>
          </a:prstGeom>
          <a:noFill/>
          <a:ln/>
        </p:spPr>
        <p:txBody>
          <a:bodyPr wrap="square" lIns="0" tIns="0" rIns="0" bIns="0" rtlCol="0" anchor="ctr"/>
          <a:lstStyle/>
          <a:p>
            <a:pPr marL="0" indent="0">
              <a:buNone/>
            </a:pPr>
            <a:r>
              <a:rPr lang="en-US" sz="1400" dirty="0">
                <a:solidFill>
                  <a:srgbClr val="AEBBD6"/>
                </a:solidFill>
                <a:latin typeface="Calibri" pitchFamily="34" charset="0"/>
                <a:ea typeface="Calibri" pitchFamily="34" charset="-122"/>
                <a:cs typeface="Calibri" pitchFamily="34" charset="-120"/>
              </a:rPr>
              <a:t>Team: Guttikonda Gayathri, Sai Sowseelya V   |   Guide: Mr. Raghavendra   |   Dept. of CSE, KLH Bachupally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2392</Words>
  <Application>Microsoft Office PowerPoint</Application>
  <PresentationFormat>Widescreen</PresentationFormat>
  <Paragraphs>255</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Dept. of CSE, KLH Bachupally</dc:creator>
  <cp:lastModifiedBy>ANJANA DEVI</cp:lastModifiedBy>
  <cp:revision>3</cp:revision>
  <dcterms:created xsi:type="dcterms:W3CDTF">2026-09-16T05:47:29Z</dcterms:created>
  <dcterms:modified xsi:type="dcterms:W3CDTF">2026-10-12T15:21:01Z</dcterms:modified>
</cp:coreProperties>
</file>